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69" r:id="rId2"/>
    <p:sldId id="270" r:id="rId3"/>
    <p:sldId id="334" r:id="rId4"/>
    <p:sldId id="340" r:id="rId5"/>
    <p:sldId id="341" r:id="rId6"/>
    <p:sldId id="347" r:id="rId7"/>
    <p:sldId id="342" r:id="rId8"/>
    <p:sldId id="343" r:id="rId9"/>
    <p:sldId id="344" r:id="rId10"/>
    <p:sldId id="345" r:id="rId11"/>
    <p:sldId id="346" r:id="rId12"/>
    <p:sldId id="30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76B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6" autoAdjust="0"/>
    <p:restoredTop sz="93447" autoAdjust="0"/>
  </p:normalViewPr>
  <p:slideViewPr>
    <p:cSldViewPr snapToGrid="0" snapToObjects="1">
      <p:cViewPr varScale="1">
        <p:scale>
          <a:sx n="63" d="100"/>
          <a:sy n="63" d="100"/>
        </p:scale>
        <p:origin x="652" y="5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ECE86-3A9E-451C-B628-D8723CA8B0D1}"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FE4E0-99C2-4C7B-9FAA-C1CC54635720}" type="slidenum">
              <a:rPr lang="en-US" smtClean="0"/>
              <a:t>‹#›</a:t>
            </a:fld>
            <a:endParaRPr lang="en-US"/>
          </a:p>
        </p:txBody>
      </p:sp>
    </p:spTree>
    <p:extLst>
      <p:ext uri="{BB962C8B-B14F-4D97-AF65-F5344CB8AC3E}">
        <p14:creationId xmlns:p14="http://schemas.microsoft.com/office/powerpoint/2010/main" val="3300161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A13258-6E53-4C80-83B5-0E8BFFF081DA}" type="slidenum">
              <a:rPr lang="en-US" smtClean="0"/>
              <a:t>2</a:t>
            </a:fld>
            <a:endParaRPr lang="en-US"/>
          </a:p>
        </p:txBody>
      </p:sp>
    </p:spTree>
    <p:extLst>
      <p:ext uri="{BB962C8B-B14F-4D97-AF65-F5344CB8AC3E}">
        <p14:creationId xmlns:p14="http://schemas.microsoft.com/office/powerpoint/2010/main" val="2705915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p:cNvSpPr>
            <a:spLocks noGrp="1"/>
          </p:cNvSpPr>
          <p:nvPr>
            <p:ph type="sldNum" sz="quarter" idx="10"/>
          </p:nvPr>
        </p:nvSpPr>
        <p:spPr/>
        <p:txBody>
          <a:bodyPr/>
          <a:lstStyle/>
          <a:p>
            <a:fld id="{B4E027D8-EDF7-4F60-B1D9-953B6983C2D8}" type="slidenum">
              <a:rPr lang="en-US" smtClean="0"/>
              <a:t>3</a:t>
            </a:fld>
            <a:endParaRPr lang="en-US"/>
          </a:p>
        </p:txBody>
      </p:sp>
    </p:spTree>
    <p:extLst>
      <p:ext uri="{BB962C8B-B14F-4D97-AF65-F5344CB8AC3E}">
        <p14:creationId xmlns:p14="http://schemas.microsoft.com/office/powerpoint/2010/main" val="2303899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AD60-41FB-5D42-68B7-0081D8096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0CB8E-7C9A-B080-1A0D-BC75D1A3E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8E78B-93EC-D1DA-2929-3F6B50D4C6E9}"/>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C88C4584-1F29-B0B8-E26C-BC8648A65211}"/>
              </a:ext>
            </a:extLst>
          </p:cNvPr>
          <p:cNvSpPr>
            <a:spLocks noGrp="1"/>
          </p:cNvSpPr>
          <p:nvPr>
            <p:ph type="sldNum" sz="quarter" idx="10"/>
          </p:nvPr>
        </p:nvSpPr>
        <p:spPr/>
        <p:txBody>
          <a:bodyPr/>
          <a:lstStyle/>
          <a:p>
            <a:fld id="{B4E027D8-EDF7-4F60-B1D9-953B6983C2D8}" type="slidenum">
              <a:rPr lang="en-US" smtClean="0"/>
              <a:t>4</a:t>
            </a:fld>
            <a:endParaRPr lang="en-US"/>
          </a:p>
        </p:txBody>
      </p:sp>
    </p:spTree>
    <p:extLst>
      <p:ext uri="{BB962C8B-B14F-4D97-AF65-F5344CB8AC3E}">
        <p14:creationId xmlns:p14="http://schemas.microsoft.com/office/powerpoint/2010/main" val="1045865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A96CE-7A8D-37CA-87DC-9EC68A242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C82E4-1066-E5D1-286F-DE94D82EF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E0460-5F84-9779-0A2C-69A9CB5C4110}"/>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E6817424-C58D-5773-A1A5-9AD26BCD1A0C}"/>
              </a:ext>
            </a:extLst>
          </p:cNvPr>
          <p:cNvSpPr>
            <a:spLocks noGrp="1"/>
          </p:cNvSpPr>
          <p:nvPr>
            <p:ph type="sldNum" sz="quarter" idx="10"/>
          </p:nvPr>
        </p:nvSpPr>
        <p:spPr/>
        <p:txBody>
          <a:bodyPr/>
          <a:lstStyle/>
          <a:p>
            <a:fld id="{B4E027D8-EDF7-4F60-B1D9-953B6983C2D8}" type="slidenum">
              <a:rPr lang="en-US" smtClean="0"/>
              <a:t>5</a:t>
            </a:fld>
            <a:endParaRPr lang="en-US"/>
          </a:p>
        </p:txBody>
      </p:sp>
    </p:spTree>
    <p:extLst>
      <p:ext uri="{BB962C8B-B14F-4D97-AF65-F5344CB8AC3E}">
        <p14:creationId xmlns:p14="http://schemas.microsoft.com/office/powerpoint/2010/main" val="923733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94BCB-66B3-46F2-88D2-C526D21A7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837A8-A81C-8D58-B33A-3DBB061A9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B8099-C80A-A30E-F75C-DC591B81E99E}"/>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9E0E93C6-B3A0-57A4-D7E0-6F4314AC3D44}"/>
              </a:ext>
            </a:extLst>
          </p:cNvPr>
          <p:cNvSpPr>
            <a:spLocks noGrp="1"/>
          </p:cNvSpPr>
          <p:nvPr>
            <p:ph type="sldNum" sz="quarter" idx="10"/>
          </p:nvPr>
        </p:nvSpPr>
        <p:spPr/>
        <p:txBody>
          <a:bodyPr/>
          <a:lstStyle/>
          <a:p>
            <a:fld id="{B4E027D8-EDF7-4F60-B1D9-953B6983C2D8}" type="slidenum">
              <a:rPr lang="en-US" smtClean="0"/>
              <a:t>6</a:t>
            </a:fld>
            <a:endParaRPr lang="en-US"/>
          </a:p>
        </p:txBody>
      </p:sp>
    </p:spTree>
    <p:extLst>
      <p:ext uri="{BB962C8B-B14F-4D97-AF65-F5344CB8AC3E}">
        <p14:creationId xmlns:p14="http://schemas.microsoft.com/office/powerpoint/2010/main" val="974982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FE8FA-BC92-C29B-ACDF-BE52FBBAE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0206E-86E2-10BA-A1A3-F2F362BE2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E698D-A265-47C6-F621-3F9EACF46F47}"/>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1DE2DDDC-BD54-7BEA-48EE-DB39CC8F5524}"/>
              </a:ext>
            </a:extLst>
          </p:cNvPr>
          <p:cNvSpPr>
            <a:spLocks noGrp="1"/>
          </p:cNvSpPr>
          <p:nvPr>
            <p:ph type="sldNum" sz="quarter" idx="10"/>
          </p:nvPr>
        </p:nvSpPr>
        <p:spPr/>
        <p:txBody>
          <a:bodyPr/>
          <a:lstStyle/>
          <a:p>
            <a:fld id="{B4E027D8-EDF7-4F60-B1D9-953B6983C2D8}" type="slidenum">
              <a:rPr lang="en-US" smtClean="0"/>
              <a:t>7</a:t>
            </a:fld>
            <a:endParaRPr lang="en-US"/>
          </a:p>
        </p:txBody>
      </p:sp>
    </p:spTree>
    <p:extLst>
      <p:ext uri="{BB962C8B-B14F-4D97-AF65-F5344CB8AC3E}">
        <p14:creationId xmlns:p14="http://schemas.microsoft.com/office/powerpoint/2010/main" val="4288511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AC5A9-CB86-E25B-07F5-F0A16BC4A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2657A-53B7-91BD-87F4-6A9D6D309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E6D02-2609-6797-7A0B-654214901DFF}"/>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Lower whisker</a:t>
            </a:r>
          </a:p>
          <a:p>
            <a:r>
              <a:rPr lang="en-US" sz="1200" kern="1200" dirty="0">
                <a:solidFill>
                  <a:schemeClr val="tx1"/>
                </a:solidFill>
                <a:effectLst/>
                <a:latin typeface="+mn-lt"/>
                <a:ea typeface="+mn-ea"/>
                <a:cs typeface="+mn-cs"/>
              </a:rPr>
              <a:t>Q1 − 1.5×IQR (lower fence)</a:t>
            </a:r>
          </a:p>
          <a:p>
            <a:r>
              <a:rPr lang="en-US" sz="1200" kern="1200" dirty="0">
                <a:solidFill>
                  <a:schemeClr val="tx1"/>
                </a:solidFill>
                <a:effectLst/>
                <a:latin typeface="+mn-lt"/>
                <a:ea typeface="+mn-ea"/>
                <a:cs typeface="+mn-cs"/>
              </a:rPr>
              <a:t>Smallest value still considered 'normal'</a:t>
            </a:r>
          </a:p>
          <a:p>
            <a:r>
              <a:rPr lang="en-US" sz="1200" kern="1200" dirty="0">
                <a:solidFill>
                  <a:schemeClr val="tx1"/>
                </a:solidFill>
                <a:effectLst/>
                <a:latin typeface="+mn-lt"/>
                <a:ea typeface="+mn-ea"/>
                <a:cs typeface="+mn-cs"/>
              </a:rPr>
              <a:t>Upper whisker</a:t>
            </a:r>
          </a:p>
          <a:p>
            <a:r>
              <a:rPr lang="en-US" sz="1200" kern="1200" dirty="0">
                <a:solidFill>
                  <a:schemeClr val="tx1"/>
                </a:solidFill>
                <a:effectLst/>
                <a:latin typeface="+mn-lt"/>
                <a:ea typeface="+mn-ea"/>
                <a:cs typeface="+mn-cs"/>
              </a:rPr>
              <a:t>Q3 + 1.5×IQR (upper fence)</a:t>
            </a:r>
          </a:p>
          <a:p>
            <a:r>
              <a:rPr lang="en-US" sz="1200" kern="1200" dirty="0">
                <a:solidFill>
                  <a:schemeClr val="tx1"/>
                </a:solidFill>
                <a:effectLst/>
                <a:latin typeface="+mn-lt"/>
                <a:ea typeface="+mn-ea"/>
                <a:cs typeface="+mn-cs"/>
              </a:rPr>
              <a:t>Largest value still considered 'normal'</a:t>
            </a:r>
          </a:p>
          <a:p>
            <a:r>
              <a:rPr lang="en-US" sz="1200" kern="1200" dirty="0">
                <a:solidFill>
                  <a:schemeClr val="tx1"/>
                </a:solidFill>
                <a:effectLst/>
                <a:latin typeface="+mn-lt"/>
                <a:ea typeface="+mn-ea"/>
                <a:cs typeface="+mn-cs"/>
              </a:rPr>
              <a:t>Dots beyond whiskers</a:t>
            </a:r>
          </a:p>
          <a:p>
            <a:r>
              <a:rPr lang="en-US" sz="1200" kern="1200" dirty="0">
                <a:solidFill>
                  <a:schemeClr val="tx1"/>
                </a:solidFill>
                <a:effectLst/>
                <a:latin typeface="+mn-lt"/>
                <a:ea typeface="+mn-ea"/>
                <a:cs typeface="+mn-cs"/>
              </a:rPr>
              <a:t>Outliers</a:t>
            </a:r>
          </a:p>
          <a:p>
            <a:r>
              <a:rPr lang="en-US" sz="1200" kern="1200" dirty="0">
                <a:solidFill>
                  <a:schemeClr val="tx1"/>
                </a:solidFill>
                <a:effectLst/>
                <a:latin typeface="+mn-lt"/>
                <a:ea typeface="+mn-ea"/>
                <a:cs typeface="+mn-cs"/>
              </a:rPr>
              <a:t>Individual points flagged as anomalies</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9C95C0B-2E3F-608A-7D57-E3AF6DDE202E}"/>
              </a:ext>
            </a:extLst>
          </p:cNvPr>
          <p:cNvSpPr>
            <a:spLocks noGrp="1"/>
          </p:cNvSpPr>
          <p:nvPr>
            <p:ph type="sldNum" sz="quarter" idx="10"/>
          </p:nvPr>
        </p:nvSpPr>
        <p:spPr/>
        <p:txBody>
          <a:bodyPr/>
          <a:lstStyle/>
          <a:p>
            <a:fld id="{B4E027D8-EDF7-4F60-B1D9-953B6983C2D8}" type="slidenum">
              <a:rPr lang="en-US" smtClean="0"/>
              <a:t>8</a:t>
            </a:fld>
            <a:endParaRPr lang="en-US"/>
          </a:p>
        </p:txBody>
      </p:sp>
    </p:spTree>
    <p:extLst>
      <p:ext uri="{BB962C8B-B14F-4D97-AF65-F5344CB8AC3E}">
        <p14:creationId xmlns:p14="http://schemas.microsoft.com/office/powerpoint/2010/main" val="1400818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F2CB3-5182-45FF-05E0-5609EFA0D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81B0-9104-F8EA-B530-7011F11F8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5187C-AC22-2CE5-D316-FAB9D9B99376}"/>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5C81A2D2-053D-6309-0C5E-5199F329C442}"/>
              </a:ext>
            </a:extLst>
          </p:cNvPr>
          <p:cNvSpPr>
            <a:spLocks noGrp="1"/>
          </p:cNvSpPr>
          <p:nvPr>
            <p:ph type="sldNum" sz="quarter" idx="10"/>
          </p:nvPr>
        </p:nvSpPr>
        <p:spPr/>
        <p:txBody>
          <a:bodyPr/>
          <a:lstStyle/>
          <a:p>
            <a:fld id="{B4E027D8-EDF7-4F60-B1D9-953B6983C2D8}" type="slidenum">
              <a:rPr lang="en-US" smtClean="0"/>
              <a:t>9</a:t>
            </a:fld>
            <a:endParaRPr lang="en-US"/>
          </a:p>
        </p:txBody>
      </p:sp>
    </p:spTree>
    <p:extLst>
      <p:ext uri="{BB962C8B-B14F-4D97-AF65-F5344CB8AC3E}">
        <p14:creationId xmlns:p14="http://schemas.microsoft.com/office/powerpoint/2010/main" val="275497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C0DC3-2085-E0E2-1806-6B14A2E07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F2828-3857-DE0F-FDBF-229338E5F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7684F-A1FB-DDFE-1E67-F53E1198D6AB}"/>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3B1A461C-C9A3-5C81-D618-986A633DF191}"/>
              </a:ext>
            </a:extLst>
          </p:cNvPr>
          <p:cNvSpPr>
            <a:spLocks noGrp="1"/>
          </p:cNvSpPr>
          <p:nvPr>
            <p:ph type="sldNum" sz="quarter" idx="10"/>
          </p:nvPr>
        </p:nvSpPr>
        <p:spPr/>
        <p:txBody>
          <a:bodyPr/>
          <a:lstStyle/>
          <a:p>
            <a:fld id="{B4E027D8-EDF7-4F60-B1D9-953B6983C2D8}" type="slidenum">
              <a:rPr lang="en-US" smtClean="0"/>
              <a:t>10</a:t>
            </a:fld>
            <a:endParaRPr lang="en-US"/>
          </a:p>
        </p:txBody>
      </p:sp>
    </p:spTree>
    <p:extLst>
      <p:ext uri="{BB962C8B-B14F-4D97-AF65-F5344CB8AC3E}">
        <p14:creationId xmlns:p14="http://schemas.microsoft.com/office/powerpoint/2010/main" val="2710989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18B9F-BBAA-DE7F-77C0-ECE3D8166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88E3C-7B6A-5B2E-FC9D-F44A104C5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697C7-9588-6981-7676-B909F734AA4C}"/>
              </a:ext>
            </a:extLst>
          </p:cNvPr>
          <p:cNvSpPr>
            <a:spLocks noGrp="1"/>
          </p:cNvSpPr>
          <p:nvPr>
            <p:ph type="body" idx="1"/>
          </p:nvPr>
        </p:nvSpPr>
        <p:spPr/>
        <p:txBody>
          <a:bodyPr/>
          <a:lstStyle/>
          <a:p>
            <a:r>
              <a:rPr lang="en-US" dirty="0"/>
              <a:t>- </a:t>
            </a:r>
            <a:r>
              <a:rPr lang="en-US" b="1" dirty="0"/>
              <a:t>Scientific computing</a:t>
            </a:r>
            <a:r>
              <a:rPr lang="en-US" dirty="0"/>
              <a:t> involves using computational methods to solve complex scientific and mathematical problems.</a:t>
            </a:r>
          </a:p>
          <a:p>
            <a:r>
              <a:rPr lang="en-US" dirty="0"/>
              <a:t>Numeric (1995):</a:t>
            </a:r>
          </a:p>
          <a:p>
            <a:r>
              <a:rPr lang="en-US" dirty="0"/>
              <a:t>First version was called "Numeric" or "Numerical Python"</a:t>
            </a:r>
          </a:p>
          <a:p>
            <a:r>
              <a:rPr lang="en-US" dirty="0"/>
              <a:t>Created by Jim </a:t>
            </a:r>
            <a:r>
              <a:rPr lang="en-US" dirty="0" err="1"/>
              <a:t>Hugunin</a:t>
            </a:r>
            <a:r>
              <a:rPr lang="en-US" dirty="0"/>
              <a:t> at MIT</a:t>
            </a:r>
          </a:p>
          <a:p>
            <a:endParaRPr lang="en-US" dirty="0"/>
          </a:p>
          <a:p>
            <a:r>
              <a:rPr lang="en-US" dirty="0"/>
              <a:t>Evolution to </a:t>
            </a:r>
            <a:r>
              <a:rPr lang="en-US" dirty="0" err="1"/>
              <a:t>NumPy</a:t>
            </a:r>
            <a:r>
              <a:rPr lang="en-US" dirty="0"/>
              <a:t> (2006):</a:t>
            </a:r>
          </a:p>
          <a:p>
            <a:r>
              <a:rPr lang="en-US" dirty="0"/>
              <a:t>Travis Oliphant led the creation of </a:t>
            </a:r>
            <a:r>
              <a:rPr lang="en-US" dirty="0" err="1"/>
              <a:t>NumPy</a:t>
            </a:r>
            <a:endParaRPr lang="en-US" dirty="0"/>
          </a:p>
        </p:txBody>
      </p:sp>
      <p:sp>
        <p:nvSpPr>
          <p:cNvPr id="4" name="Slide Number Placeholder 3">
            <a:extLst>
              <a:ext uri="{FF2B5EF4-FFF2-40B4-BE49-F238E27FC236}">
                <a16:creationId xmlns:a16="http://schemas.microsoft.com/office/drawing/2014/main" id="{9AB72A8A-BF2E-BEA7-4C4D-3945178EBF2F}"/>
              </a:ext>
            </a:extLst>
          </p:cNvPr>
          <p:cNvSpPr>
            <a:spLocks noGrp="1"/>
          </p:cNvSpPr>
          <p:nvPr>
            <p:ph type="sldNum" sz="quarter" idx="10"/>
          </p:nvPr>
        </p:nvSpPr>
        <p:spPr/>
        <p:txBody>
          <a:bodyPr/>
          <a:lstStyle/>
          <a:p>
            <a:fld id="{B4E027D8-EDF7-4F60-B1D9-953B6983C2D8}" type="slidenum">
              <a:rPr lang="en-US" smtClean="0"/>
              <a:t>11</a:t>
            </a:fld>
            <a:endParaRPr lang="en-US"/>
          </a:p>
        </p:txBody>
      </p:sp>
    </p:spTree>
    <p:extLst>
      <p:ext uri="{BB962C8B-B14F-4D97-AF65-F5344CB8AC3E}">
        <p14:creationId xmlns:p14="http://schemas.microsoft.com/office/powerpoint/2010/main" val="1283879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1FF6DA9-008F-8B48-92A6-B652298478B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2410448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791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95147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5583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1813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9994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0399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4455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5059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3921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3434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643322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99581-E6DA-A087-25B7-D388200DDBEF}"/>
              </a:ext>
            </a:extLst>
          </p:cNvPr>
          <p:cNvSpPr>
            <a:spLocks noGrp="1"/>
          </p:cNvSpPr>
          <p:nvPr>
            <p:ph type="ctrTitle"/>
          </p:nvPr>
        </p:nvSpPr>
        <p:spPr>
          <a:xfrm>
            <a:off x="1386840" y="2281028"/>
            <a:ext cx="9418320" cy="1940814"/>
          </a:xfrm>
        </p:spPr>
        <p:txBody>
          <a:bodyPr anchor="ctr">
            <a:noAutofit/>
          </a:bodyPr>
          <a:lstStyle/>
          <a:p>
            <a:pPr algn="ctr">
              <a:lnSpc>
                <a:spcPct val="100000"/>
              </a:lnSpc>
            </a:pPr>
            <a:r>
              <a:rPr lang="en-US" sz="4000" dirty="0">
                <a:latin typeface="Tahoma" panose="020B0604030504040204" pitchFamily="34" charset="0"/>
                <a:ea typeface="Tahoma" panose="020B0604030504040204" pitchFamily="34" charset="0"/>
                <a:cs typeface="Tahoma" panose="020B0604030504040204" pitchFamily="34" charset="0"/>
              </a:rPr>
              <a:t>Spring of Code</a:t>
            </a:r>
            <a:br>
              <a:rPr lang="en-US" sz="4800" b="1" dirty="0">
                <a:latin typeface="Tahoma" panose="020B0604030504040204" pitchFamily="34" charset="0"/>
                <a:ea typeface="Tahoma" panose="020B0604030504040204" pitchFamily="34" charset="0"/>
                <a:cs typeface="Tahoma" panose="020B0604030504040204" pitchFamily="34" charset="0"/>
              </a:rPr>
            </a:br>
            <a:r>
              <a:rPr lang="en-US" sz="4800" b="1" dirty="0">
                <a:latin typeface="Tahoma" panose="020B0604030504040204" pitchFamily="34" charset="0"/>
                <a:ea typeface="Tahoma" panose="020B0604030504040204" pitchFamily="34" charset="0"/>
                <a:cs typeface="Tahoma" panose="020B0604030504040204" pitchFamily="34" charset="0"/>
              </a:rPr>
              <a:t>Artificial Intelligence</a:t>
            </a:r>
            <a:br>
              <a:rPr lang="en-US" sz="4800" b="1" dirty="0">
                <a:latin typeface="Tahoma" panose="020B0604030504040204" pitchFamily="34" charset="0"/>
                <a:ea typeface="Tahoma" panose="020B0604030504040204" pitchFamily="34" charset="0"/>
                <a:cs typeface="Tahoma" panose="020B0604030504040204" pitchFamily="34" charset="0"/>
              </a:rPr>
            </a:br>
            <a:r>
              <a:rPr lang="en-US" sz="4000" dirty="0">
                <a:latin typeface="Tahoma" panose="020B0604030504040204" pitchFamily="34" charset="0"/>
                <a:ea typeface="Tahoma" panose="020B0604030504040204" pitchFamily="34" charset="0"/>
                <a:cs typeface="Tahoma" panose="020B0604030504040204" pitchFamily="34" charset="0"/>
              </a:rPr>
              <a:t>(Machine Learning &amp; Deep Learning)</a:t>
            </a:r>
            <a:endParaRPr lang="en-US" sz="4800" dirty="0">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925143E3-D58C-EF6B-7201-CA43E3F6C114}"/>
              </a:ext>
            </a:extLst>
          </p:cNvPr>
          <p:cNvSpPr>
            <a:spLocks noGrp="1"/>
          </p:cNvSpPr>
          <p:nvPr>
            <p:ph type="subTitle" idx="1"/>
          </p:nvPr>
        </p:nvSpPr>
        <p:spPr>
          <a:xfrm>
            <a:off x="1386840" y="4690522"/>
            <a:ext cx="4709160" cy="1073671"/>
          </a:xfrm>
        </p:spPr>
        <p:txBody>
          <a:bodyPr>
            <a:normAutofit/>
          </a:bodyPr>
          <a:lstStyle/>
          <a:p>
            <a:r>
              <a:rPr lang="en-US" dirty="0">
                <a:latin typeface="Tahoma" panose="020B0604030504040204" pitchFamily="34" charset="0"/>
                <a:ea typeface="Tahoma" panose="020B0604030504040204" pitchFamily="34" charset="0"/>
                <a:cs typeface="Tahoma" panose="020B0604030504040204" pitchFamily="34" charset="0"/>
              </a:rPr>
              <a:t>Instructor</a:t>
            </a:r>
            <a:br>
              <a:rPr lang="en-US" dirty="0">
                <a:latin typeface="Tahoma" panose="020B0604030504040204" pitchFamily="34" charset="0"/>
                <a:ea typeface="Tahoma" panose="020B0604030504040204" pitchFamily="34" charset="0"/>
                <a:cs typeface="Tahoma" panose="020B0604030504040204" pitchFamily="34" charset="0"/>
              </a:rPr>
            </a:br>
            <a:r>
              <a:rPr lang="en-US" b="1" dirty="0">
                <a:latin typeface="Tahoma" panose="020B0604030504040204" pitchFamily="34" charset="0"/>
                <a:ea typeface="Tahoma" panose="020B0604030504040204" pitchFamily="34" charset="0"/>
                <a:cs typeface="Tahoma" panose="020B0604030504040204" pitchFamily="34" charset="0"/>
              </a:rPr>
              <a:t>Asad Ullah</a:t>
            </a:r>
            <a:br>
              <a:rPr lang="en-US" b="1" dirty="0">
                <a:latin typeface="Tahoma" panose="020B0604030504040204" pitchFamily="34" charset="0"/>
                <a:ea typeface="Tahoma" panose="020B0604030504040204" pitchFamily="34" charset="0"/>
                <a:cs typeface="Tahoma" panose="020B0604030504040204" pitchFamily="34" charset="0"/>
              </a:rPr>
            </a:br>
            <a:r>
              <a:rPr lang="en-US" b="1" dirty="0">
                <a:latin typeface="Tahoma" panose="020B0604030504040204" pitchFamily="34" charset="0"/>
                <a:ea typeface="Tahoma" panose="020B0604030504040204" pitchFamily="34" charset="0"/>
                <a:cs typeface="Tahoma" panose="020B0604030504040204" pitchFamily="34" charset="0"/>
              </a:rPr>
              <a:t>- </a:t>
            </a:r>
            <a:r>
              <a:rPr lang="en-US" i="1" dirty="0">
                <a:latin typeface="Tahoma" panose="020B0604030504040204" pitchFamily="34" charset="0"/>
                <a:ea typeface="Tahoma" panose="020B0604030504040204" pitchFamily="34" charset="0"/>
                <a:cs typeface="Tahoma" panose="020B0604030504040204" pitchFamily="34" charset="0"/>
              </a:rPr>
              <a:t>Research Assistant</a:t>
            </a:r>
            <a:r>
              <a:rPr lang="en-US" b="1" dirty="0">
                <a:latin typeface="Tahoma" panose="020B0604030504040204" pitchFamily="34" charset="0"/>
                <a:ea typeface="Tahoma" panose="020B0604030504040204" pitchFamily="34" charset="0"/>
                <a:cs typeface="Tahoma" panose="020B0604030504040204" pitchFamily="34" charset="0"/>
              </a:rPr>
              <a:t> </a:t>
            </a:r>
            <a:r>
              <a:rPr lang="en-US" dirty="0">
                <a:latin typeface="Tahoma" panose="020B0604030504040204" pitchFamily="34" charset="0"/>
                <a:ea typeface="Tahoma" panose="020B0604030504040204" pitchFamily="34" charset="0"/>
                <a:cs typeface="Tahoma" panose="020B0604030504040204" pitchFamily="34" charset="0"/>
              </a:rPr>
              <a:t>(DIP Lab)</a:t>
            </a:r>
          </a:p>
        </p:txBody>
      </p:sp>
      <p:sp>
        <p:nvSpPr>
          <p:cNvPr id="4" name="Subtitle 2">
            <a:extLst>
              <a:ext uri="{FF2B5EF4-FFF2-40B4-BE49-F238E27FC236}">
                <a16:creationId xmlns:a16="http://schemas.microsoft.com/office/drawing/2014/main" id="{78220163-3D24-35D9-099A-1EE7AD5D8507}"/>
              </a:ext>
            </a:extLst>
          </p:cNvPr>
          <p:cNvSpPr txBox="1">
            <a:spLocks/>
          </p:cNvSpPr>
          <p:nvPr/>
        </p:nvSpPr>
        <p:spPr>
          <a:xfrm>
            <a:off x="6096000" y="4690522"/>
            <a:ext cx="4709160" cy="1073671"/>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algn="r"/>
            <a:r>
              <a:rPr lang="en-US" dirty="0">
                <a:latin typeface="Tahoma" panose="020B0604030504040204" pitchFamily="34" charset="0"/>
                <a:ea typeface="Tahoma" panose="020B0604030504040204" pitchFamily="34" charset="0"/>
                <a:cs typeface="Tahoma" panose="020B0604030504040204" pitchFamily="34" charset="0"/>
              </a:rPr>
              <a:t>Duration</a:t>
            </a:r>
            <a:br>
              <a:rPr lang="en-US" dirty="0">
                <a:latin typeface="Tahoma" panose="020B0604030504040204" pitchFamily="34" charset="0"/>
                <a:ea typeface="Tahoma" panose="020B0604030504040204" pitchFamily="34" charset="0"/>
                <a:cs typeface="Tahoma" panose="020B0604030504040204" pitchFamily="34" charset="0"/>
              </a:rPr>
            </a:br>
            <a:r>
              <a:rPr lang="en-US" b="1" dirty="0">
                <a:latin typeface="Tahoma" panose="020B0604030504040204" pitchFamily="34" charset="0"/>
                <a:ea typeface="Tahoma" panose="020B0604030504040204" pitchFamily="34" charset="0"/>
                <a:cs typeface="Tahoma" panose="020B0604030504040204" pitchFamily="34" charset="0"/>
              </a:rPr>
              <a:t>03 Months</a:t>
            </a:r>
            <a:br>
              <a:rPr lang="en-US" b="1"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(Feb – April)</a:t>
            </a:r>
          </a:p>
        </p:txBody>
      </p:sp>
      <p:pic>
        <p:nvPicPr>
          <p:cNvPr id="9" name="Picture 8" descr="A logo with a sun and a laurel wreath&#10;&#10;AI-generated content may be incorrect.">
            <a:extLst>
              <a:ext uri="{FF2B5EF4-FFF2-40B4-BE49-F238E27FC236}">
                <a16:creationId xmlns:a16="http://schemas.microsoft.com/office/drawing/2014/main" id="{3ADBB9F1-F1A4-490F-36F0-0633244FDC4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324090" y="72457"/>
            <a:ext cx="1543820" cy="2152650"/>
          </a:xfrm>
          <a:prstGeom prst="rect">
            <a:avLst/>
          </a:prstGeom>
        </p:spPr>
      </p:pic>
    </p:spTree>
    <p:extLst>
      <p:ext uri="{BB962C8B-B14F-4D97-AF65-F5344CB8AC3E}">
        <p14:creationId xmlns:p14="http://schemas.microsoft.com/office/powerpoint/2010/main" val="2707019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AD579EA-4F95-F5F8-18D1-98448634C731}"/>
              </a:ext>
            </a:extLst>
          </p:cNvPr>
          <p:cNvPicPr>
            <a:picLocks noChangeArrowheads="1"/>
          </p:cNvPicPr>
          <p:nvPr/>
        </p:nvPicPr>
        <p:blipFill rotWithShape="1">
          <a:blip r:embed="rId3"/>
          <a:srcRect l="15202" t="-13945" r="15202" b="-13945"/>
          <a:stretch>
            <a:fillRect/>
          </a:stretch>
        </p:blipFill>
        <p:spPr bwMode="auto">
          <a:xfrm>
            <a:off x="0" y="0"/>
            <a:ext cx="419649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876026A-655D-9AC4-0148-BC903871DE96}"/>
              </a:ext>
            </a:extLst>
          </p:cNvPr>
          <p:cNvSpPr/>
          <p:nvPr/>
        </p:nvSpPr>
        <p:spPr>
          <a:xfrm>
            <a:off x="0" y="0"/>
            <a:ext cx="4196497" cy="941033"/>
          </a:xfrm>
          <a:prstGeom prst="rect">
            <a:avLst/>
          </a:prstGeom>
          <a:solidFill>
            <a:srgbClr val="2376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F54CCF-B8FC-00AC-994C-65096C56E90B}"/>
              </a:ext>
            </a:extLst>
          </p:cNvPr>
          <p:cNvSpPr>
            <a:spLocks noGrp="1"/>
          </p:cNvSpPr>
          <p:nvPr>
            <p:ph type="title"/>
          </p:nvPr>
        </p:nvSpPr>
        <p:spPr>
          <a:xfrm>
            <a:off x="4421878" y="459815"/>
            <a:ext cx="6931922" cy="1675623"/>
          </a:xfrm>
        </p:spPr>
        <p:txBody>
          <a:bodyPr anchor="b">
            <a:normAutofit/>
          </a:bodyPr>
          <a:lstStyle/>
          <a:p>
            <a:r>
              <a:rPr lang="en-US" sz="3600" b="1" dirty="0">
                <a:latin typeface="Segoe UI" panose="020B0502040204020203" pitchFamily="34" charset="0"/>
                <a:cs typeface="Segoe UI" panose="020B0502040204020203" pitchFamily="34" charset="0"/>
              </a:rPr>
              <a:t>Day 05 – Exploratory Data Analysis</a:t>
            </a:r>
            <a:br>
              <a:rPr lang="en-US" sz="3600" b="1" dirty="0">
                <a:latin typeface="Segoe UI" panose="020B0502040204020203" pitchFamily="34" charset="0"/>
                <a:cs typeface="Segoe UI" panose="020B0502040204020203" pitchFamily="34" charset="0"/>
              </a:rPr>
            </a:br>
            <a:r>
              <a:rPr lang="en-US" sz="3000" b="1" dirty="0">
                <a:latin typeface="Segoe UI" panose="020B0502040204020203" pitchFamily="34" charset="0"/>
                <a:cs typeface="Segoe UI" panose="020B0502040204020203" pitchFamily="34" charset="0"/>
              </a:rPr>
              <a:t>(Data Visualization)</a:t>
            </a:r>
          </a:p>
        </p:txBody>
      </p:sp>
      <p:sp>
        <p:nvSpPr>
          <p:cNvPr id="3" name="Content Placeholder 2">
            <a:extLst>
              <a:ext uri="{FF2B5EF4-FFF2-40B4-BE49-F238E27FC236}">
                <a16:creationId xmlns:a16="http://schemas.microsoft.com/office/drawing/2014/main" id="{305AA044-F283-AA13-92C2-38B0E3D12B68}"/>
              </a:ext>
            </a:extLst>
          </p:cNvPr>
          <p:cNvSpPr>
            <a:spLocks noGrp="1"/>
          </p:cNvSpPr>
          <p:nvPr>
            <p:ph idx="1"/>
          </p:nvPr>
        </p:nvSpPr>
        <p:spPr>
          <a:xfrm>
            <a:off x="4421878" y="2493649"/>
            <a:ext cx="6798539" cy="4280530"/>
          </a:xfrm>
        </p:spPr>
        <p:txBody>
          <a:bodyPr>
            <a:normAutofit/>
          </a:bodyPr>
          <a:lstStyle/>
          <a:p>
            <a:pPr marL="0" indent="0">
              <a:buNone/>
            </a:pPr>
            <a:r>
              <a:rPr lang="en-US" sz="2400" b="1" dirty="0">
                <a:latin typeface="Segoe UI" panose="020B0502040204020203" pitchFamily="34" charset="0"/>
                <a:cs typeface="Segoe UI" panose="020B0502040204020203" pitchFamily="34" charset="0"/>
              </a:rPr>
              <a:t>Objectives:</a:t>
            </a:r>
          </a:p>
          <a:p>
            <a:pPr marL="346075" indent="-346075">
              <a:buFont typeface="Wingdings" panose="05000000000000000000" pitchFamily="2" charset="2"/>
              <a:buChar char="v"/>
            </a:pPr>
            <a:r>
              <a:rPr lang="en-US" sz="2400" dirty="0">
                <a:latin typeface="Segoe UI" panose="020B0502040204020203" pitchFamily="34" charset="0"/>
                <a:cs typeface="Segoe UI" panose="020B0502040204020203" pitchFamily="34" charset="0"/>
              </a:rPr>
              <a:t>Data Visualization</a:t>
            </a:r>
          </a:p>
          <a:p>
            <a:pPr marL="346075" indent="-346075">
              <a:buFont typeface="Wingdings" panose="05000000000000000000" pitchFamily="2" charset="2"/>
              <a:buChar char="v"/>
            </a:pPr>
            <a:r>
              <a:rPr lang="en-US" sz="2400" dirty="0">
                <a:latin typeface="Segoe UI" panose="020B0502040204020203" pitchFamily="34" charset="0"/>
                <a:cs typeface="Segoe UI" panose="020B0502040204020203" pitchFamily="34" charset="0"/>
              </a:rPr>
              <a:t>Plots for Quantitative Data</a:t>
            </a:r>
          </a:p>
          <a:p>
            <a:pPr marL="346075" indent="-346075">
              <a:buFont typeface="Wingdings" panose="05000000000000000000" pitchFamily="2" charset="2"/>
              <a:buChar char="v"/>
            </a:pPr>
            <a:r>
              <a:rPr lang="en-US" sz="2400" dirty="0">
                <a:latin typeface="Segoe UI" panose="020B0502040204020203" pitchFamily="34" charset="0"/>
                <a:cs typeface="Segoe UI" panose="020B0502040204020203" pitchFamily="34" charset="0"/>
              </a:rPr>
              <a:t>Plots for Qualitative Data</a:t>
            </a:r>
          </a:p>
          <a:p>
            <a:pPr marL="346075" indent="-346075">
              <a:buFont typeface="Wingdings" panose="05000000000000000000" pitchFamily="2" charset="2"/>
              <a:buChar char="v"/>
            </a:pPr>
            <a:r>
              <a:rPr lang="en-US" sz="2400" dirty="0">
                <a:latin typeface="Segoe UI" panose="020B0502040204020203" pitchFamily="34" charset="0"/>
                <a:cs typeface="Segoe UI" panose="020B0502040204020203" pitchFamily="34" charset="0"/>
              </a:rPr>
              <a:t>Python Libraries</a:t>
            </a:r>
          </a:p>
        </p:txBody>
      </p:sp>
      <p:sp>
        <p:nvSpPr>
          <p:cNvPr id="5" name="Rectangle 4">
            <a:extLst>
              <a:ext uri="{FF2B5EF4-FFF2-40B4-BE49-F238E27FC236}">
                <a16:creationId xmlns:a16="http://schemas.microsoft.com/office/drawing/2014/main" id="{A2C0A671-7D1E-B14E-0C5B-270F4761D8F6}"/>
              </a:ext>
            </a:extLst>
          </p:cNvPr>
          <p:cNvSpPr/>
          <p:nvPr/>
        </p:nvSpPr>
        <p:spPr>
          <a:xfrm>
            <a:off x="0" y="5916967"/>
            <a:ext cx="4196497" cy="941033"/>
          </a:xfrm>
          <a:prstGeom prst="rect">
            <a:avLst/>
          </a:prstGeom>
          <a:solidFill>
            <a:srgbClr val="2376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2069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Data Visualization</a:t>
            </a:r>
          </a:p>
        </p:txBody>
      </p:sp>
      <p:sp>
        <p:nvSpPr>
          <p:cNvPr id="15" name="Content Placeholder 2"/>
          <p:cNvSpPr>
            <a:spLocks noGrp="1"/>
          </p:cNvSpPr>
          <p:nvPr>
            <p:ph idx="1"/>
          </p:nvPr>
        </p:nvSpPr>
        <p:spPr>
          <a:xfrm>
            <a:off x="600975" y="930275"/>
            <a:ext cx="5495026" cy="5608482"/>
          </a:xfrm>
        </p:spPr>
        <p:txBody>
          <a:bodyPr>
            <a:noAutofit/>
          </a:bodyPr>
          <a:lstStyle/>
          <a:p>
            <a:pPr algn="just">
              <a:lnSpc>
                <a:spcPct val="100000"/>
              </a:lnSpc>
            </a:pPr>
            <a:r>
              <a:rPr lang="en-US" sz="2000" dirty="0">
                <a:latin typeface="Segoe UI" panose="020B0502040204020203" pitchFamily="34" charset="0"/>
                <a:cs typeface="Segoe UI" panose="020B0502040204020203" pitchFamily="34" charset="0"/>
              </a:rPr>
              <a:t>The graphical representation of information and data using visual elements such as charts, graphs, and maps.</a:t>
            </a:r>
          </a:p>
          <a:p>
            <a:pPr algn="just">
              <a:lnSpc>
                <a:spcPct val="100000"/>
              </a:lnSpc>
            </a:pPr>
            <a:r>
              <a:rPr lang="en-US" sz="2000" dirty="0">
                <a:latin typeface="Segoe UI" panose="020B0502040204020203" pitchFamily="34" charset="0"/>
                <a:cs typeface="Segoe UI" panose="020B0502040204020203" pitchFamily="34" charset="0"/>
              </a:rPr>
              <a:t>It is a critical skill in data science, helping transform raw data into understandable and actionable insights.</a:t>
            </a:r>
          </a:p>
          <a:p>
            <a:pPr marL="0" indent="0" algn="just">
              <a:lnSpc>
                <a:spcPct val="100000"/>
              </a:lnSpc>
              <a:buNone/>
            </a:pPr>
            <a:r>
              <a:rPr lang="en-US" sz="2000" b="1" dirty="0">
                <a:latin typeface="Segoe UI" panose="020B0502040204020203" pitchFamily="34" charset="0"/>
                <a:cs typeface="Segoe UI" panose="020B0502040204020203" pitchFamily="34" charset="0"/>
              </a:rPr>
              <a:t>Purpose: </a:t>
            </a:r>
          </a:p>
          <a:p>
            <a:pPr algn="just">
              <a:lnSpc>
                <a:spcPct val="100000"/>
              </a:lnSpc>
            </a:pPr>
            <a:r>
              <a:rPr lang="en-US" sz="2000" dirty="0">
                <a:latin typeface="Segoe UI" panose="020B0502040204020203" pitchFamily="34" charset="0"/>
                <a:cs typeface="Segoe UI" panose="020B0502040204020203" pitchFamily="34" charset="0"/>
              </a:rPr>
              <a:t>Helps in understanding complex data through visual context.</a:t>
            </a:r>
          </a:p>
          <a:p>
            <a:pPr algn="just">
              <a:lnSpc>
                <a:spcPct val="100000"/>
              </a:lnSpc>
            </a:pPr>
            <a:r>
              <a:rPr lang="en-US" sz="2000" dirty="0">
                <a:latin typeface="Segoe UI" panose="020B0502040204020203" pitchFamily="34" charset="0"/>
                <a:cs typeface="Segoe UI" panose="020B0502040204020203" pitchFamily="34" charset="0"/>
              </a:rPr>
              <a:t>Visualizing data allows people to see relationships, patterns, and trends in the information you’re trying to communicate.</a:t>
            </a:r>
          </a:p>
        </p:txBody>
      </p:sp>
      <p:pic>
        <p:nvPicPr>
          <p:cNvPr id="3" name="Picture 2">
            <a:extLst>
              <a:ext uri="{FF2B5EF4-FFF2-40B4-BE49-F238E27FC236}">
                <a16:creationId xmlns:a16="http://schemas.microsoft.com/office/drawing/2014/main" id="{71FC19BA-E8F2-676A-D048-2525D6EA98FE}"/>
              </a:ext>
            </a:extLst>
          </p:cNvPr>
          <p:cNvPicPr>
            <a:picLocks noChangeAspect="1"/>
          </p:cNvPicPr>
          <p:nvPr/>
        </p:nvPicPr>
        <p:blipFill rotWithShape="1">
          <a:blip r:embed="rId3"/>
          <a:srcRect l="41873" t="25632" r="2602" b="3505"/>
          <a:stretch/>
        </p:blipFill>
        <p:spPr>
          <a:xfrm>
            <a:off x="6335216" y="575213"/>
            <a:ext cx="4788130" cy="2670809"/>
          </a:xfrm>
          <a:prstGeom prst="rect">
            <a:avLst/>
          </a:prstGeom>
        </p:spPr>
      </p:pic>
      <p:pic>
        <p:nvPicPr>
          <p:cNvPr id="4" name="Picture 3">
            <a:extLst>
              <a:ext uri="{FF2B5EF4-FFF2-40B4-BE49-F238E27FC236}">
                <a16:creationId xmlns:a16="http://schemas.microsoft.com/office/drawing/2014/main" id="{FE44F6F6-9CF6-4238-7952-17D52F990BA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6374943" y="3671741"/>
            <a:ext cx="4708676" cy="2706891"/>
          </a:xfrm>
          <a:prstGeom prst="rect">
            <a:avLst/>
          </a:prstGeom>
        </p:spPr>
      </p:pic>
    </p:spTree>
    <p:extLst>
      <p:ext uri="{BB962C8B-B14F-4D97-AF65-F5344CB8AC3E}">
        <p14:creationId xmlns:p14="http://schemas.microsoft.com/office/powerpoint/2010/main" val="2900903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8BF8F-F2C6-F165-313B-0951A4858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0EB6B-039C-4F41-96D9-C5E15BFC7C07}"/>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Sources of Data</a:t>
            </a:r>
          </a:p>
        </p:txBody>
      </p:sp>
      <p:sp>
        <p:nvSpPr>
          <p:cNvPr id="15" name="Content Placeholder 2">
            <a:extLst>
              <a:ext uri="{FF2B5EF4-FFF2-40B4-BE49-F238E27FC236}">
                <a16:creationId xmlns:a16="http://schemas.microsoft.com/office/drawing/2014/main" id="{2C502FF5-B854-122B-B52E-D00E85843E41}"/>
              </a:ext>
            </a:extLst>
          </p:cNvPr>
          <p:cNvSpPr>
            <a:spLocks noGrp="1"/>
          </p:cNvSpPr>
          <p:nvPr>
            <p:ph idx="1"/>
          </p:nvPr>
        </p:nvSpPr>
        <p:spPr>
          <a:xfrm>
            <a:off x="600975" y="930275"/>
            <a:ext cx="5495026" cy="5608482"/>
          </a:xfrm>
        </p:spPr>
        <p:txBody>
          <a:bodyPr>
            <a:noAutofit/>
          </a:bodyPr>
          <a:lstStyle/>
          <a:p>
            <a:pPr marL="0" indent="0" algn="just">
              <a:lnSpc>
                <a:spcPct val="100000"/>
              </a:lnSpc>
              <a:buNone/>
            </a:pPr>
            <a:r>
              <a:rPr lang="en-US" sz="2000" b="1" dirty="0">
                <a:latin typeface="Segoe UI" panose="020B0502040204020203" pitchFamily="34" charset="0"/>
                <a:cs typeface="Segoe UI" panose="020B0502040204020203" pitchFamily="34" charset="0"/>
              </a:rPr>
              <a:t>Primary sources:</a:t>
            </a:r>
          </a:p>
          <a:p>
            <a:pPr algn="just">
              <a:lnSpc>
                <a:spcPct val="100000"/>
              </a:lnSpc>
            </a:pPr>
            <a:r>
              <a:rPr lang="en-US" sz="2000" dirty="0">
                <a:latin typeface="Segoe UI" panose="020B0502040204020203" pitchFamily="34" charset="0"/>
                <a:cs typeface="Segoe UI" panose="020B0502040204020203" pitchFamily="34" charset="0"/>
              </a:rPr>
              <a:t>Surveys and questionnaires experiments and observations</a:t>
            </a:r>
          </a:p>
          <a:p>
            <a:pPr marL="0" indent="0" algn="just">
              <a:lnSpc>
                <a:spcPct val="100000"/>
              </a:lnSpc>
              <a:buNone/>
            </a:pPr>
            <a:r>
              <a:rPr lang="en-US" sz="2000" b="1" dirty="0">
                <a:latin typeface="Segoe UI" panose="020B0502040204020203" pitchFamily="34" charset="0"/>
                <a:cs typeface="Segoe UI" panose="020B0502040204020203" pitchFamily="34" charset="0"/>
              </a:rPr>
              <a:t>Secondary sources:</a:t>
            </a:r>
          </a:p>
          <a:p>
            <a:pPr algn="just">
              <a:lnSpc>
                <a:spcPct val="100000"/>
              </a:lnSpc>
            </a:pPr>
            <a:r>
              <a:rPr lang="en-US" sz="2000" dirty="0">
                <a:latin typeface="Segoe UI" panose="020B0502040204020203" pitchFamily="34" charset="0"/>
                <a:cs typeface="Segoe UI" panose="020B0502040204020203" pitchFamily="34" charset="0"/>
              </a:rPr>
              <a:t>Public or private data collections</a:t>
            </a:r>
          </a:p>
          <a:p>
            <a:pPr algn="just">
              <a:lnSpc>
                <a:spcPct val="100000"/>
              </a:lnSpc>
            </a:pPr>
            <a:r>
              <a:rPr lang="en-US" sz="2000" dirty="0">
                <a:latin typeface="Segoe UI" panose="020B0502040204020203" pitchFamily="34" charset="0"/>
                <a:cs typeface="Segoe UI" panose="020B0502040204020203" pitchFamily="34" charset="0"/>
              </a:rPr>
              <a:t>Academic research publications and web scraping</a:t>
            </a:r>
          </a:p>
          <a:p>
            <a:pPr marL="0" indent="0" algn="just">
              <a:lnSpc>
                <a:spcPct val="100000"/>
              </a:lnSpc>
              <a:buNone/>
            </a:pPr>
            <a:r>
              <a:rPr lang="en-US" sz="2000" b="1" dirty="0">
                <a:latin typeface="Segoe UI" panose="020B0502040204020203" pitchFamily="34" charset="0"/>
                <a:cs typeface="Segoe UI" panose="020B0502040204020203" pitchFamily="34" charset="0"/>
              </a:rPr>
              <a:t>Modern Data sources:</a:t>
            </a:r>
          </a:p>
          <a:p>
            <a:pPr algn="just">
              <a:lnSpc>
                <a:spcPct val="100000"/>
              </a:lnSpc>
            </a:pPr>
            <a:r>
              <a:rPr lang="en-US" sz="2000" dirty="0">
                <a:latin typeface="Segoe UI" panose="020B0502040204020203" pitchFamily="34" charset="0"/>
                <a:cs typeface="Segoe UI" panose="020B0502040204020203" pitchFamily="34" charset="0"/>
              </a:rPr>
              <a:t>Big Data, Sensors and IoT devices (smart cities etc.)</a:t>
            </a:r>
          </a:p>
          <a:p>
            <a:pPr algn="just">
              <a:lnSpc>
                <a:spcPct val="100000"/>
              </a:lnSpc>
            </a:pPr>
            <a:r>
              <a:rPr lang="en-US" sz="2000" dirty="0">
                <a:latin typeface="Segoe UI" panose="020B0502040204020203" pitchFamily="34" charset="0"/>
                <a:cs typeface="Segoe UI" panose="020B0502040204020203" pitchFamily="34" charset="0"/>
              </a:rPr>
              <a:t>Surveillance systems (security cameras)</a:t>
            </a:r>
          </a:p>
          <a:p>
            <a:pPr algn="just">
              <a:lnSpc>
                <a:spcPct val="100000"/>
              </a:lnSpc>
            </a:pPr>
            <a:r>
              <a:rPr lang="en-US" sz="2000" dirty="0">
                <a:latin typeface="Segoe UI" panose="020B0502040204020203" pitchFamily="34" charset="0"/>
                <a:cs typeface="Segoe UI" panose="020B0502040204020203" pitchFamily="34" charset="0"/>
              </a:rPr>
              <a:t>Medical Data (electronic health records, medical imaging, etc.)</a:t>
            </a:r>
          </a:p>
        </p:txBody>
      </p:sp>
      <p:pic>
        <p:nvPicPr>
          <p:cNvPr id="5" name="Picture 2" descr="Data sources: Primary data">
            <a:extLst>
              <a:ext uri="{FF2B5EF4-FFF2-40B4-BE49-F238E27FC236}">
                <a16:creationId xmlns:a16="http://schemas.microsoft.com/office/drawing/2014/main" id="{F9CB13AD-86A1-922D-4656-1D32D4F878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631"/>
          <a:stretch/>
        </p:blipFill>
        <p:spPr bwMode="auto">
          <a:xfrm>
            <a:off x="6631640" y="371107"/>
            <a:ext cx="4392889" cy="1471504"/>
          </a:xfrm>
          <a:prstGeom prst="round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C3D00C2-E5CF-4BD0-BF09-BE76BF44B513}"/>
              </a:ext>
            </a:extLst>
          </p:cNvPr>
          <p:cNvPicPr>
            <a:picLocks noChangeAspect="1"/>
          </p:cNvPicPr>
          <p:nvPr/>
        </p:nvPicPr>
        <p:blipFill rotWithShape="1">
          <a:blip r:embed="rId4"/>
          <a:srcRect l="5533" t="5019" r="6595" b="10952"/>
          <a:stretch/>
        </p:blipFill>
        <p:spPr>
          <a:xfrm>
            <a:off x="6565769" y="1915518"/>
            <a:ext cx="4524629" cy="2241703"/>
          </a:xfrm>
          <a:prstGeom prst="roundRect">
            <a:avLst>
              <a:gd name="adj" fmla="val 13385"/>
            </a:avLst>
          </a:prstGeom>
          <a:ln>
            <a:solidFill>
              <a:schemeClr val="bg1"/>
            </a:solidFill>
          </a:ln>
        </p:spPr>
      </p:pic>
      <p:pic>
        <p:nvPicPr>
          <p:cNvPr id="7" name="Picture 4" descr="https://www.researchgate.net/profile/Ravi-Suggala/publication/331672442/figure/fig1/AS:735489153830915@1552365687736/Modern-and-Traditional-data-sources-for-prediction-of-epidemics-outbreaks_W640.jpg">
            <a:extLst>
              <a:ext uri="{FF2B5EF4-FFF2-40B4-BE49-F238E27FC236}">
                <a16:creationId xmlns:a16="http://schemas.microsoft.com/office/drawing/2014/main" id="{06921966-954A-C5E5-E195-5375C1E63B2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766" b="54399"/>
          <a:stretch/>
        </p:blipFill>
        <p:spPr bwMode="auto">
          <a:xfrm>
            <a:off x="6419656" y="4350170"/>
            <a:ext cx="4670742" cy="2375856"/>
          </a:xfrm>
          <a:prstGeom prst="roundRect">
            <a:avLst>
              <a:gd name="adj" fmla="val 11801"/>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089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B6285-7721-61DF-7CF5-E9312FEB1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06D98-DA9B-C1FE-10CE-4243FBB5833A}"/>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Data Visualization Libraries</a:t>
            </a:r>
          </a:p>
        </p:txBody>
      </p:sp>
      <p:sp>
        <p:nvSpPr>
          <p:cNvPr id="15" name="Content Placeholder 2">
            <a:extLst>
              <a:ext uri="{FF2B5EF4-FFF2-40B4-BE49-F238E27FC236}">
                <a16:creationId xmlns:a16="http://schemas.microsoft.com/office/drawing/2014/main" id="{CD2C5D25-F41E-0F89-FDFF-A690CA432945}"/>
              </a:ext>
            </a:extLst>
          </p:cNvPr>
          <p:cNvSpPr>
            <a:spLocks noGrp="1"/>
          </p:cNvSpPr>
          <p:nvPr>
            <p:ph idx="1"/>
          </p:nvPr>
        </p:nvSpPr>
        <p:spPr>
          <a:xfrm>
            <a:off x="600975" y="930275"/>
            <a:ext cx="5495026" cy="5608482"/>
          </a:xfrm>
        </p:spPr>
        <p:txBody>
          <a:bodyPr>
            <a:noAutofit/>
          </a:bodyPr>
          <a:lstStyle/>
          <a:p>
            <a:pPr marL="0" indent="0" algn="just">
              <a:spcBef>
                <a:spcPts val="500"/>
              </a:spcBef>
              <a:buNone/>
            </a:pPr>
            <a:r>
              <a:rPr lang="en-US" sz="2000" dirty="0">
                <a:latin typeface="Segoe UI" panose="020B0502040204020203" pitchFamily="34" charset="0"/>
                <a:cs typeface="Segoe UI" panose="020B0502040204020203" pitchFamily="34" charset="0"/>
              </a:rPr>
              <a:t>Python has become a dominant language in data science, offering a rich ecosystem of visualization libraries.</a:t>
            </a:r>
          </a:p>
          <a:p>
            <a:pPr marL="0" indent="0" algn="just">
              <a:spcBef>
                <a:spcPts val="700"/>
              </a:spcBef>
              <a:buNone/>
            </a:pPr>
            <a:r>
              <a:rPr lang="en-US" sz="2000" b="1" dirty="0">
                <a:latin typeface="Segoe UI" panose="020B0502040204020203" pitchFamily="34" charset="0"/>
                <a:cs typeface="Segoe UI" panose="020B0502040204020203" pitchFamily="34" charset="0"/>
              </a:rPr>
              <a:t>Matplotlib </a:t>
            </a:r>
          </a:p>
          <a:p>
            <a:pPr marL="227013" lvl="1" indent="-227013" algn="just"/>
            <a:r>
              <a:rPr lang="en-US" sz="2000" dirty="0">
                <a:latin typeface="Segoe UI" panose="020B0502040204020203" pitchFamily="34" charset="0"/>
                <a:cs typeface="Segoe UI" panose="020B0502040204020203" pitchFamily="34" charset="0"/>
              </a:rPr>
              <a:t>Matplotlib is the grandfather of python visualization packages.</a:t>
            </a:r>
          </a:p>
          <a:p>
            <a:pPr marL="227013" lvl="1" indent="-227013" algn="just"/>
            <a:r>
              <a:rPr lang="en-US" sz="2000" dirty="0">
                <a:latin typeface="Segoe UI" panose="020B0502040204020203" pitchFamily="34" charset="0"/>
                <a:cs typeface="Segoe UI" panose="020B0502040204020203" pitchFamily="34" charset="0"/>
              </a:rPr>
              <a:t>Foundation for many other libraries.</a:t>
            </a:r>
          </a:p>
          <a:p>
            <a:pPr marL="227013" lvl="1" indent="-227013" algn="just"/>
            <a:r>
              <a:rPr lang="en-US" sz="2000" dirty="0">
                <a:latin typeface="Segoe UI" panose="020B0502040204020203" pitchFamily="34" charset="0"/>
                <a:cs typeface="Segoe UI" panose="020B0502040204020203" pitchFamily="34" charset="0"/>
              </a:rPr>
              <a:t>It is extremely powerful but with that power comes complexity.</a:t>
            </a:r>
          </a:p>
          <a:p>
            <a:pPr marL="227013" lvl="1" indent="-227013" algn="just"/>
            <a:r>
              <a:rPr lang="en-US" sz="2000" dirty="0">
                <a:latin typeface="Segoe UI" panose="020B0502040204020203" pitchFamily="34" charset="0"/>
                <a:cs typeface="Segoe UI" panose="020B0502040204020203" pitchFamily="34" charset="0"/>
              </a:rPr>
              <a:t>Best for creating publication-quality static visualizations.</a:t>
            </a:r>
          </a:p>
          <a:p>
            <a:pPr marL="0" indent="0" algn="just">
              <a:spcBef>
                <a:spcPts val="700"/>
              </a:spcBef>
              <a:buNone/>
            </a:pPr>
            <a:r>
              <a:rPr lang="en-US" sz="2000" b="1" dirty="0">
                <a:latin typeface="Segoe UI" panose="020B0502040204020203" pitchFamily="34" charset="0"/>
                <a:cs typeface="Segoe UI" panose="020B0502040204020203" pitchFamily="34" charset="0"/>
              </a:rPr>
              <a:t>Seaborn </a:t>
            </a:r>
          </a:p>
          <a:p>
            <a:pPr marL="227013" lvl="1" indent="-227013" algn="just"/>
            <a:r>
              <a:rPr lang="en-US" sz="2000" dirty="0">
                <a:latin typeface="Segoe UI" panose="020B0502040204020203" pitchFamily="34" charset="0"/>
                <a:cs typeface="Segoe UI" panose="020B0502040204020203" pitchFamily="34" charset="0"/>
              </a:rPr>
              <a:t>Leverages matplotlib for beautiful, minimal-code charts.</a:t>
            </a:r>
          </a:p>
          <a:p>
            <a:pPr marL="227013" lvl="1" indent="-227013" algn="just"/>
            <a:r>
              <a:rPr lang="en-US" sz="2000" dirty="0">
                <a:latin typeface="Segoe UI" panose="020B0502040204020203" pitchFamily="34" charset="0"/>
                <a:cs typeface="Segoe UI" panose="020B0502040204020203" pitchFamily="34" charset="0"/>
              </a:rPr>
              <a:t>It’s default styles and color palettes are more modern and visually appealing. Specialized in statistical visualizations.	</a:t>
            </a:r>
          </a:p>
        </p:txBody>
      </p:sp>
      <p:pic>
        <p:nvPicPr>
          <p:cNvPr id="1026" name="Picture 2" descr="The Battle of the Visuals: Matplotlib vs Seaborn in Data Science">
            <a:extLst>
              <a:ext uri="{FF2B5EF4-FFF2-40B4-BE49-F238E27FC236}">
                <a16:creationId xmlns:a16="http://schemas.microsoft.com/office/drawing/2014/main" id="{6DB5146B-8F56-A582-8A4D-BCB565967B5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200000"/>
                    </a14:imgEffect>
                    <a14:imgEffect>
                      <a14:brightnessContrast bright="20000" contrast="-40000"/>
                    </a14:imgEffect>
                  </a14:imgLayer>
                </a14:imgProps>
              </a:ext>
              <a:ext uri="{28A0092B-C50C-407E-A947-70E740481C1C}">
                <a14:useLocalDpi xmlns:a14="http://schemas.microsoft.com/office/drawing/2010/main" val="0"/>
              </a:ext>
            </a:extLst>
          </a:blip>
          <a:srcRect l="5549" t="26504" r="11337" b="30406"/>
          <a:stretch>
            <a:fillRect/>
          </a:stretch>
        </p:blipFill>
        <p:spPr bwMode="auto">
          <a:xfrm>
            <a:off x="6283275" y="2509243"/>
            <a:ext cx="4845334" cy="1676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088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C2C8-F6A9-6B3D-F0FB-4A59F44A38B4}"/>
            </a:ext>
          </a:extLst>
        </p:cNvPr>
        <p:cNvGrpSpPr/>
        <p:nvPr/>
      </p:nvGrpSpPr>
      <p:grpSpPr>
        <a:xfrm>
          <a:off x="0" y="0"/>
          <a:ext cx="0" cy="0"/>
          <a:chOff x="0" y="0"/>
          <a:chExt cx="0" cy="0"/>
        </a:xfrm>
      </p:grpSpPr>
      <p:pic>
        <p:nvPicPr>
          <p:cNvPr id="1028" name="Picture 4" descr="Introduction to Matplotlib - GeeksforGeeks">
            <a:extLst>
              <a:ext uri="{FF2B5EF4-FFF2-40B4-BE49-F238E27FC236}">
                <a16:creationId xmlns:a16="http://schemas.microsoft.com/office/drawing/2014/main" id="{46538010-6C24-D48C-9498-579ED36CDD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030" b="5969"/>
          <a:stretch>
            <a:fillRect/>
          </a:stretch>
        </p:blipFill>
        <p:spPr bwMode="auto">
          <a:xfrm>
            <a:off x="1306849" y="1326201"/>
            <a:ext cx="8583000" cy="497090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E71A5FF-1EC5-D403-1EE4-DC111C4DC82E}"/>
              </a:ext>
            </a:extLst>
          </p:cNvPr>
          <p:cNvSpPr>
            <a:spLocks noGrp="1"/>
          </p:cNvSpPr>
          <p:nvPr>
            <p:ph type="title"/>
          </p:nvPr>
        </p:nvSpPr>
        <p:spPr>
          <a:xfrm>
            <a:off x="600973" y="303992"/>
            <a:ext cx="9994753" cy="626283"/>
          </a:xfrm>
        </p:spPr>
        <p:txBody>
          <a:bodyPr>
            <a:noAutofit/>
          </a:bodyPr>
          <a:lstStyle/>
          <a:p>
            <a:pPr algn="ctr"/>
            <a:r>
              <a:rPr lang="en-US" sz="2800" b="1" dirty="0">
                <a:latin typeface="Segoe UI" panose="020B0502040204020203" pitchFamily="34" charset="0"/>
                <a:cs typeface="Segoe UI" panose="020B0502040204020203" pitchFamily="34" charset="0"/>
              </a:rPr>
              <a:t>Anatomy of Matplotlib Figure</a:t>
            </a:r>
          </a:p>
        </p:txBody>
      </p:sp>
    </p:spTree>
    <p:extLst>
      <p:ext uri="{BB962C8B-B14F-4D97-AF65-F5344CB8AC3E}">
        <p14:creationId xmlns:p14="http://schemas.microsoft.com/office/powerpoint/2010/main" val="2201472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2F8D-1161-FA4A-2942-62BBCFA15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67F3D-154D-FA75-7CBF-4A6F99CC4AAD}"/>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Quantitative Data Plots</a:t>
            </a:r>
          </a:p>
        </p:txBody>
      </p:sp>
      <p:sp>
        <p:nvSpPr>
          <p:cNvPr id="15" name="Content Placeholder 2">
            <a:extLst>
              <a:ext uri="{FF2B5EF4-FFF2-40B4-BE49-F238E27FC236}">
                <a16:creationId xmlns:a16="http://schemas.microsoft.com/office/drawing/2014/main" id="{9BF80784-35EC-0EFA-AA82-5320C0E676E1}"/>
              </a:ext>
            </a:extLst>
          </p:cNvPr>
          <p:cNvSpPr>
            <a:spLocks noGrp="1"/>
          </p:cNvSpPr>
          <p:nvPr>
            <p:ph idx="1"/>
          </p:nvPr>
        </p:nvSpPr>
        <p:spPr>
          <a:xfrm>
            <a:off x="600975" y="930275"/>
            <a:ext cx="5495026" cy="5608482"/>
          </a:xfrm>
        </p:spPr>
        <p:txBody>
          <a:bodyPr>
            <a:noAutofit/>
          </a:bodyPr>
          <a:lstStyle/>
          <a:p>
            <a:pPr marL="0" indent="0" algn="just">
              <a:spcBef>
                <a:spcPts val="500"/>
              </a:spcBef>
              <a:buNone/>
            </a:pPr>
            <a:r>
              <a:rPr lang="en-US" sz="2000" b="1" dirty="0">
                <a:latin typeface="Segoe UI" panose="020B0502040204020203" pitchFamily="34" charset="0"/>
                <a:cs typeface="Segoe UI" panose="020B0502040204020203" pitchFamily="34" charset="0"/>
              </a:rPr>
              <a:t>Histogram</a:t>
            </a:r>
          </a:p>
          <a:p>
            <a:pPr algn="just">
              <a:spcBef>
                <a:spcPts val="500"/>
              </a:spcBef>
            </a:pPr>
            <a:r>
              <a:rPr lang="en-US" sz="2000" dirty="0">
                <a:latin typeface="Segoe UI" panose="020B0502040204020203" pitchFamily="34" charset="0"/>
                <a:cs typeface="Segoe UI" panose="020B0502040204020203" pitchFamily="34" charset="0"/>
              </a:rPr>
              <a:t>A bar chart showing the frequency of a numerical variable within specific intervals.</a:t>
            </a:r>
          </a:p>
          <a:p>
            <a:pPr algn="just">
              <a:spcBef>
                <a:spcPts val="500"/>
              </a:spcBef>
            </a:pPr>
            <a:r>
              <a:rPr lang="en-US" sz="2000" b="1" dirty="0">
                <a:latin typeface="Segoe UI" panose="020B0502040204020203" pitchFamily="34" charset="0"/>
                <a:cs typeface="Segoe UI" panose="020B0502040204020203" pitchFamily="34" charset="0"/>
              </a:rPr>
              <a:t>Interpretation: </a:t>
            </a:r>
            <a:r>
              <a:rPr lang="en-US" sz="2000" dirty="0">
                <a:latin typeface="Segoe UI" panose="020B0502040204020203" pitchFamily="34" charset="0"/>
                <a:cs typeface="Segoe UI" panose="020B0502040204020203" pitchFamily="34" charset="0"/>
              </a:rPr>
              <a:t>Look at the shape to understand the distribution (e.g., symmetric, skewed left/right). </a:t>
            </a:r>
          </a:p>
          <a:p>
            <a:pPr marL="0" indent="0" algn="just">
              <a:spcBef>
                <a:spcPts val="500"/>
              </a:spcBef>
              <a:buNone/>
            </a:pPr>
            <a:r>
              <a:rPr lang="en-US" sz="2000" b="1" dirty="0">
                <a:latin typeface="Segoe UI" panose="020B0502040204020203" pitchFamily="34" charset="0"/>
                <a:cs typeface="Segoe UI" panose="020B0502040204020203" pitchFamily="34" charset="0"/>
              </a:rPr>
              <a:t>KDE Plot</a:t>
            </a:r>
          </a:p>
          <a:p>
            <a:pPr algn="just">
              <a:spcBef>
                <a:spcPts val="500"/>
              </a:spcBef>
            </a:pPr>
            <a:r>
              <a:rPr lang="en-US" sz="2000" dirty="0">
                <a:latin typeface="Segoe UI" panose="020B0502040204020203" pitchFamily="34" charset="0"/>
                <a:cs typeface="Segoe UI" panose="020B0502040204020203" pitchFamily="34" charset="0"/>
              </a:rPr>
              <a:t>A Kernel Density Estimate plot; a smoothed version of a histogram showing a probability curve.</a:t>
            </a:r>
          </a:p>
          <a:p>
            <a:pPr algn="just">
              <a:spcBef>
                <a:spcPts val="500"/>
              </a:spcBef>
            </a:pPr>
            <a:r>
              <a:rPr lang="en-US" sz="2000" b="1" dirty="0">
                <a:latin typeface="Segoe UI" panose="020B0502040204020203" pitchFamily="34" charset="0"/>
                <a:cs typeface="Segoe UI" panose="020B0502040204020203" pitchFamily="34" charset="0"/>
              </a:rPr>
              <a:t>Interpretation: </a:t>
            </a:r>
            <a:r>
              <a:rPr lang="en-US" sz="2000" dirty="0">
                <a:latin typeface="Segoe UI" panose="020B0502040204020203" pitchFamily="34" charset="0"/>
                <a:cs typeface="Segoe UI" panose="020B0502040204020203" pitchFamily="34" charset="0"/>
              </a:rPr>
              <a:t>Peaks in the curve represent values with the highest concentration of data. It helps visualize the underlying distribution shape more clearly than a histogram.</a:t>
            </a:r>
          </a:p>
        </p:txBody>
      </p:sp>
      <p:sp>
        <p:nvSpPr>
          <p:cNvPr id="5" name="TextBox 4">
            <a:extLst>
              <a:ext uri="{FF2B5EF4-FFF2-40B4-BE49-F238E27FC236}">
                <a16:creationId xmlns:a16="http://schemas.microsoft.com/office/drawing/2014/main" id="{037ED917-9F7A-3A53-D3D2-F1F5AD56F434}"/>
              </a:ext>
            </a:extLst>
          </p:cNvPr>
          <p:cNvSpPr txBox="1"/>
          <p:nvPr/>
        </p:nvSpPr>
        <p:spPr>
          <a:xfrm>
            <a:off x="7409468" y="303992"/>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Histogram</a:t>
            </a:r>
          </a:p>
        </p:txBody>
      </p:sp>
      <p:pic>
        <p:nvPicPr>
          <p:cNvPr id="7" name="Picture 6">
            <a:extLst>
              <a:ext uri="{FF2B5EF4-FFF2-40B4-BE49-F238E27FC236}">
                <a16:creationId xmlns:a16="http://schemas.microsoft.com/office/drawing/2014/main" id="{96DEB539-F0A6-7128-2F22-590ED4196E4B}"/>
              </a:ext>
            </a:extLst>
          </p:cNvPr>
          <p:cNvPicPr>
            <a:picLocks noChangeAspect="1"/>
          </p:cNvPicPr>
          <p:nvPr/>
        </p:nvPicPr>
        <p:blipFill>
          <a:blip r:embed="rId3"/>
          <a:srcRect r="50000"/>
          <a:stretch>
            <a:fillRect/>
          </a:stretch>
        </p:blipFill>
        <p:spPr>
          <a:xfrm>
            <a:off x="6806153" y="728778"/>
            <a:ext cx="3770720" cy="2565012"/>
          </a:xfrm>
          <a:prstGeom prst="rect">
            <a:avLst/>
          </a:prstGeom>
        </p:spPr>
      </p:pic>
      <p:sp>
        <p:nvSpPr>
          <p:cNvPr id="8" name="TextBox 7">
            <a:extLst>
              <a:ext uri="{FF2B5EF4-FFF2-40B4-BE49-F238E27FC236}">
                <a16:creationId xmlns:a16="http://schemas.microsoft.com/office/drawing/2014/main" id="{C63C7210-05EB-2A9E-7163-0F532A292023}"/>
              </a:ext>
            </a:extLst>
          </p:cNvPr>
          <p:cNvSpPr txBox="1"/>
          <p:nvPr/>
        </p:nvSpPr>
        <p:spPr>
          <a:xfrm>
            <a:off x="7409468" y="3429000"/>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KDE Plot</a:t>
            </a:r>
          </a:p>
        </p:txBody>
      </p:sp>
      <p:pic>
        <p:nvPicPr>
          <p:cNvPr id="9" name="Picture 8">
            <a:extLst>
              <a:ext uri="{FF2B5EF4-FFF2-40B4-BE49-F238E27FC236}">
                <a16:creationId xmlns:a16="http://schemas.microsoft.com/office/drawing/2014/main" id="{06785346-63F4-D68D-B24A-259B18DE303F}"/>
              </a:ext>
            </a:extLst>
          </p:cNvPr>
          <p:cNvPicPr>
            <a:picLocks noChangeAspect="1"/>
          </p:cNvPicPr>
          <p:nvPr/>
        </p:nvPicPr>
        <p:blipFill>
          <a:blip r:embed="rId3"/>
          <a:srcRect l="50000"/>
          <a:stretch>
            <a:fillRect/>
          </a:stretch>
        </p:blipFill>
        <p:spPr>
          <a:xfrm>
            <a:off x="6564738" y="3829110"/>
            <a:ext cx="4253550" cy="2893454"/>
          </a:xfrm>
          <a:prstGeom prst="rect">
            <a:avLst/>
          </a:prstGeom>
        </p:spPr>
      </p:pic>
    </p:spTree>
    <p:extLst>
      <p:ext uri="{BB962C8B-B14F-4D97-AF65-F5344CB8AC3E}">
        <p14:creationId xmlns:p14="http://schemas.microsoft.com/office/powerpoint/2010/main" val="3119649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BA97-A314-6669-96E9-C33BE031F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CE15E-3CE3-F347-F985-AF37ECD4CE56}"/>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Quantitative Data Plots</a:t>
            </a:r>
          </a:p>
        </p:txBody>
      </p:sp>
      <p:sp>
        <p:nvSpPr>
          <p:cNvPr id="15" name="Content Placeholder 2">
            <a:extLst>
              <a:ext uri="{FF2B5EF4-FFF2-40B4-BE49-F238E27FC236}">
                <a16:creationId xmlns:a16="http://schemas.microsoft.com/office/drawing/2014/main" id="{A9E2207D-81D6-34E4-D0E5-BDD18031631D}"/>
              </a:ext>
            </a:extLst>
          </p:cNvPr>
          <p:cNvSpPr>
            <a:spLocks noGrp="1"/>
          </p:cNvSpPr>
          <p:nvPr>
            <p:ph idx="1"/>
          </p:nvPr>
        </p:nvSpPr>
        <p:spPr>
          <a:xfrm>
            <a:off x="600975" y="930275"/>
            <a:ext cx="5495026" cy="5608482"/>
          </a:xfrm>
        </p:spPr>
        <p:txBody>
          <a:bodyPr>
            <a:noAutofit/>
          </a:bodyPr>
          <a:lstStyle/>
          <a:p>
            <a:pPr marL="0" indent="0">
              <a:buNone/>
            </a:pPr>
            <a:r>
              <a:rPr lang="en-US" sz="2000" b="1" dirty="0">
                <a:latin typeface="Segoe UI" panose="020B0502040204020203" pitchFamily="34" charset="0"/>
                <a:cs typeface="Segoe UI" panose="020B0502040204020203" pitchFamily="34" charset="0"/>
              </a:rPr>
              <a:t>Box Plot</a:t>
            </a:r>
            <a:endParaRPr lang="en-US" sz="2000" dirty="0">
              <a:latin typeface="Segoe UI" panose="020B0502040204020203" pitchFamily="34" charset="0"/>
              <a:cs typeface="Segoe UI" panose="020B0502040204020203" pitchFamily="34" charset="0"/>
            </a:endParaRPr>
          </a:p>
          <a:p>
            <a:pPr marL="227013" lvl="1" indent="-182563"/>
            <a:r>
              <a:rPr lang="en-US" sz="2000" dirty="0">
                <a:latin typeface="Segoe UI" panose="020B0502040204020203" pitchFamily="34" charset="0"/>
                <a:cs typeface="Segoe UI" panose="020B0502040204020203" pitchFamily="34" charset="0"/>
              </a:rPr>
              <a:t>A plot displaying the five-number summary: minimum, first quartile (Q1), median, third quartile (Q3), and maximum.</a:t>
            </a:r>
          </a:p>
          <a:p>
            <a:pPr marL="227013" lvl="1" indent="-182563"/>
            <a:r>
              <a:rPr lang="en-US" sz="2000" b="1" dirty="0">
                <a:latin typeface="Segoe UI" panose="020B0502040204020203" pitchFamily="34" charset="0"/>
                <a:cs typeface="Segoe UI" panose="020B0502040204020203" pitchFamily="34" charset="0"/>
              </a:rPr>
              <a:t>Interpretation:</a:t>
            </a:r>
            <a:r>
              <a:rPr lang="en-US" sz="2000" dirty="0">
                <a:latin typeface="Segoe UI" panose="020B0502040204020203" pitchFamily="34" charset="0"/>
                <a:cs typeface="Segoe UI" panose="020B0502040204020203" pitchFamily="34" charset="0"/>
              </a:rPr>
              <a:t> The central box represents the middle 50% of your data. The line inside is the median (50th percentile). "Whiskers" show the data's range.</a:t>
            </a:r>
          </a:p>
          <a:p>
            <a:pPr marL="0" indent="0">
              <a:buNone/>
            </a:pPr>
            <a:r>
              <a:rPr lang="en-US" sz="2000" b="1" dirty="0">
                <a:latin typeface="Segoe UI" panose="020B0502040204020203" pitchFamily="34" charset="0"/>
                <a:cs typeface="Segoe UI" panose="020B0502040204020203" pitchFamily="34" charset="0"/>
              </a:rPr>
              <a:t>Violin Plot</a:t>
            </a:r>
            <a:endParaRPr lang="en-US" sz="2000" dirty="0">
              <a:latin typeface="Segoe UI" panose="020B0502040204020203" pitchFamily="34" charset="0"/>
              <a:cs typeface="Segoe UI" panose="020B0502040204020203" pitchFamily="34" charset="0"/>
            </a:endParaRPr>
          </a:p>
          <a:p>
            <a:pPr marL="227013" lvl="1" indent="-182563"/>
            <a:r>
              <a:rPr lang="en-US" sz="2000" dirty="0">
                <a:latin typeface="Segoe UI" panose="020B0502040204020203" pitchFamily="34" charset="0"/>
                <a:cs typeface="Segoe UI" panose="020B0502040204020203" pitchFamily="34" charset="0"/>
              </a:rPr>
              <a:t>A combination of a Box Plot and a KDE plot.</a:t>
            </a:r>
          </a:p>
          <a:p>
            <a:pPr marL="227013" lvl="1" indent="-182563"/>
            <a:r>
              <a:rPr lang="en-US" sz="2000" b="1" dirty="0">
                <a:latin typeface="Segoe UI" panose="020B0502040204020203" pitchFamily="34" charset="0"/>
                <a:cs typeface="Segoe UI" panose="020B0502040204020203" pitchFamily="34" charset="0"/>
              </a:rPr>
              <a:t>Interpretation:</a:t>
            </a:r>
            <a:r>
              <a:rPr lang="en-US" sz="2000" dirty="0">
                <a:latin typeface="Segoe UI" panose="020B0502040204020203" pitchFamily="34" charset="0"/>
                <a:cs typeface="Segoe UI" panose="020B0502040204020203" pitchFamily="34" charset="0"/>
              </a:rPr>
              <a:t> Use the inner box plot for summary statistics. The outer shape's width shows the data's density. Wider sections mean more data points are at that value, which is useful for seeing multiple peaks (bimodal distribution).</a:t>
            </a:r>
          </a:p>
        </p:txBody>
      </p:sp>
      <p:sp>
        <p:nvSpPr>
          <p:cNvPr id="5" name="TextBox 4">
            <a:extLst>
              <a:ext uri="{FF2B5EF4-FFF2-40B4-BE49-F238E27FC236}">
                <a16:creationId xmlns:a16="http://schemas.microsoft.com/office/drawing/2014/main" id="{77152E6F-33EF-8CA9-7A77-957038153E08}"/>
              </a:ext>
            </a:extLst>
          </p:cNvPr>
          <p:cNvSpPr txBox="1"/>
          <p:nvPr/>
        </p:nvSpPr>
        <p:spPr>
          <a:xfrm>
            <a:off x="7409468" y="303992"/>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Box Plot</a:t>
            </a:r>
          </a:p>
        </p:txBody>
      </p:sp>
      <p:pic>
        <p:nvPicPr>
          <p:cNvPr id="7" name="Picture 6">
            <a:extLst>
              <a:ext uri="{FF2B5EF4-FFF2-40B4-BE49-F238E27FC236}">
                <a16:creationId xmlns:a16="http://schemas.microsoft.com/office/drawing/2014/main" id="{0333AB7B-CCD1-796C-BB5D-A9A0840EFCE7}"/>
              </a:ext>
            </a:extLst>
          </p:cNvPr>
          <p:cNvPicPr>
            <a:picLocks noChangeAspect="1"/>
          </p:cNvPicPr>
          <p:nvPr/>
        </p:nvPicPr>
        <p:blipFill>
          <a:blip r:embed="rId3"/>
          <a:srcRect l="1" r="49767"/>
          <a:stretch>
            <a:fillRect/>
          </a:stretch>
        </p:blipFill>
        <p:spPr>
          <a:xfrm>
            <a:off x="6806152" y="728778"/>
            <a:ext cx="4012135" cy="2565012"/>
          </a:xfrm>
          <a:prstGeom prst="rect">
            <a:avLst/>
          </a:prstGeom>
        </p:spPr>
      </p:pic>
      <p:sp>
        <p:nvSpPr>
          <p:cNvPr id="8" name="TextBox 7">
            <a:extLst>
              <a:ext uri="{FF2B5EF4-FFF2-40B4-BE49-F238E27FC236}">
                <a16:creationId xmlns:a16="http://schemas.microsoft.com/office/drawing/2014/main" id="{BF0ADAA6-5047-5FCA-58D5-AB88EBD022F7}"/>
              </a:ext>
            </a:extLst>
          </p:cNvPr>
          <p:cNvSpPr txBox="1"/>
          <p:nvPr/>
        </p:nvSpPr>
        <p:spPr>
          <a:xfrm>
            <a:off x="7409468" y="3429000"/>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Violin Plot</a:t>
            </a:r>
          </a:p>
        </p:txBody>
      </p:sp>
      <p:pic>
        <p:nvPicPr>
          <p:cNvPr id="3" name="Picture 2">
            <a:extLst>
              <a:ext uri="{FF2B5EF4-FFF2-40B4-BE49-F238E27FC236}">
                <a16:creationId xmlns:a16="http://schemas.microsoft.com/office/drawing/2014/main" id="{E3897E8E-8DFA-B6FD-1ED7-B22542BD62CB}"/>
              </a:ext>
            </a:extLst>
          </p:cNvPr>
          <p:cNvPicPr>
            <a:picLocks noChangeAspect="1"/>
          </p:cNvPicPr>
          <p:nvPr/>
        </p:nvPicPr>
        <p:blipFill>
          <a:blip r:embed="rId3"/>
          <a:srcRect l="50000" r="-232"/>
          <a:stretch>
            <a:fillRect/>
          </a:stretch>
        </p:blipFill>
        <p:spPr>
          <a:xfrm>
            <a:off x="6806152" y="3829110"/>
            <a:ext cx="4012135" cy="2565012"/>
          </a:xfrm>
          <a:prstGeom prst="rect">
            <a:avLst/>
          </a:prstGeom>
        </p:spPr>
      </p:pic>
    </p:spTree>
    <p:extLst>
      <p:ext uri="{BB962C8B-B14F-4D97-AF65-F5344CB8AC3E}">
        <p14:creationId xmlns:p14="http://schemas.microsoft.com/office/powerpoint/2010/main" val="39678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50F34-D29C-760A-3642-0EA40A81A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1B388-82DD-88D2-F9A5-2CE276E77591}"/>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Quantitative Data Plots</a:t>
            </a:r>
          </a:p>
        </p:txBody>
      </p:sp>
      <p:sp>
        <p:nvSpPr>
          <p:cNvPr id="15" name="Content Placeholder 2">
            <a:extLst>
              <a:ext uri="{FF2B5EF4-FFF2-40B4-BE49-F238E27FC236}">
                <a16:creationId xmlns:a16="http://schemas.microsoft.com/office/drawing/2014/main" id="{D04115E5-35C1-CFE8-95AF-17F65E6E0C05}"/>
              </a:ext>
            </a:extLst>
          </p:cNvPr>
          <p:cNvSpPr>
            <a:spLocks noGrp="1"/>
          </p:cNvSpPr>
          <p:nvPr>
            <p:ph idx="1"/>
          </p:nvPr>
        </p:nvSpPr>
        <p:spPr>
          <a:xfrm>
            <a:off x="600975" y="930275"/>
            <a:ext cx="5495026" cy="5608482"/>
          </a:xfrm>
        </p:spPr>
        <p:txBody>
          <a:bodyPr>
            <a:noAutofit/>
          </a:bodyPr>
          <a:lstStyle/>
          <a:p>
            <a:pPr marL="0" indent="0">
              <a:buNone/>
            </a:pPr>
            <a:r>
              <a:rPr lang="en-US" sz="2000" b="1" dirty="0">
                <a:latin typeface="Segoe UI" panose="020B0502040204020203" pitchFamily="34" charset="0"/>
                <a:cs typeface="Segoe UI" panose="020B0502040204020203" pitchFamily="34" charset="0"/>
              </a:rPr>
              <a:t>Scatter Plot</a:t>
            </a:r>
          </a:p>
          <a:p>
            <a:r>
              <a:rPr lang="en-US" sz="2000" dirty="0">
                <a:latin typeface="Segoe UI" panose="020B0502040204020203" pitchFamily="34" charset="0"/>
                <a:cs typeface="Segoe UI" panose="020B0502040204020203" pitchFamily="34" charset="0"/>
              </a:rPr>
              <a:t>A plot that places a dot for each data point based on its value for two different numerical variables. </a:t>
            </a:r>
          </a:p>
          <a:p>
            <a:r>
              <a:rPr lang="en-US" sz="2000" b="1" dirty="0">
                <a:latin typeface="Segoe UI" panose="020B0502040204020203" pitchFamily="34" charset="0"/>
                <a:cs typeface="Segoe UI" panose="020B0502040204020203" pitchFamily="34" charset="0"/>
              </a:rPr>
              <a:t>Interpretation: </a:t>
            </a:r>
            <a:r>
              <a:rPr lang="en-US" sz="2000" dirty="0">
                <a:latin typeface="Segoe UI" panose="020B0502040204020203" pitchFamily="34" charset="0"/>
                <a:cs typeface="Segoe UI" panose="020B0502040204020203" pitchFamily="34" charset="0"/>
              </a:rPr>
              <a:t>Look for a pattern. Do the dots trend upwards (positive correlation), downwards (negative correlation), or form no pattern?</a:t>
            </a:r>
          </a:p>
          <a:p>
            <a:pPr marL="0" indent="0">
              <a:buNone/>
            </a:pPr>
            <a:r>
              <a:rPr lang="en-US" sz="2000" b="1" dirty="0">
                <a:latin typeface="Segoe UI" panose="020B0502040204020203" pitchFamily="34" charset="0"/>
                <a:cs typeface="Segoe UI" panose="020B0502040204020203" pitchFamily="34" charset="0"/>
              </a:rPr>
              <a:t>Line Plot</a:t>
            </a:r>
          </a:p>
          <a:p>
            <a:r>
              <a:rPr lang="en-US" sz="2000" dirty="0">
                <a:latin typeface="Segoe UI" panose="020B0502040204020203" pitchFamily="34" charset="0"/>
                <a:cs typeface="Segoe UI" panose="020B0502040204020203" pitchFamily="34" charset="0"/>
              </a:rPr>
              <a:t>A plot that connects data points with a line, typically used to show a trend over time. </a:t>
            </a:r>
          </a:p>
          <a:p>
            <a:r>
              <a:rPr lang="en-US" sz="2000" b="1" dirty="0">
                <a:latin typeface="Segoe UI" panose="020B0502040204020203" pitchFamily="34" charset="0"/>
                <a:cs typeface="Segoe UI" panose="020B0502040204020203" pitchFamily="34" charset="0"/>
              </a:rPr>
              <a:t>Interpretation: </a:t>
            </a:r>
            <a:r>
              <a:rPr lang="en-US" sz="2000" dirty="0">
                <a:latin typeface="Segoe UI" panose="020B0502040204020203" pitchFamily="34" charset="0"/>
                <a:cs typeface="Segoe UI" panose="020B0502040204020203" pitchFamily="34" charset="0"/>
              </a:rPr>
              <a:t>Observe the slope of the line to see if the value is increasing, decreasing, or staying constant.</a:t>
            </a:r>
          </a:p>
        </p:txBody>
      </p:sp>
      <p:sp>
        <p:nvSpPr>
          <p:cNvPr id="5" name="TextBox 4">
            <a:extLst>
              <a:ext uri="{FF2B5EF4-FFF2-40B4-BE49-F238E27FC236}">
                <a16:creationId xmlns:a16="http://schemas.microsoft.com/office/drawing/2014/main" id="{CDE6D424-22B7-1E4C-3ADC-AF1CFE5629DF}"/>
              </a:ext>
            </a:extLst>
          </p:cNvPr>
          <p:cNvSpPr txBox="1"/>
          <p:nvPr/>
        </p:nvSpPr>
        <p:spPr>
          <a:xfrm>
            <a:off x="7409468" y="303992"/>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Scatter Plot</a:t>
            </a:r>
          </a:p>
        </p:txBody>
      </p:sp>
      <p:pic>
        <p:nvPicPr>
          <p:cNvPr id="7" name="Picture 6">
            <a:extLst>
              <a:ext uri="{FF2B5EF4-FFF2-40B4-BE49-F238E27FC236}">
                <a16:creationId xmlns:a16="http://schemas.microsoft.com/office/drawing/2014/main" id="{B3D5B392-A1CD-F6BA-9E00-8619F308EE4D}"/>
              </a:ext>
            </a:extLst>
          </p:cNvPr>
          <p:cNvPicPr>
            <a:picLocks noChangeAspect="1"/>
          </p:cNvPicPr>
          <p:nvPr/>
        </p:nvPicPr>
        <p:blipFill>
          <a:blip r:embed="rId3"/>
          <a:srcRect t="6088" b="1458"/>
          <a:stretch>
            <a:fillRect/>
          </a:stretch>
        </p:blipFill>
        <p:spPr>
          <a:xfrm>
            <a:off x="6806152" y="728778"/>
            <a:ext cx="4012135" cy="2700222"/>
          </a:xfrm>
          <a:prstGeom prst="rect">
            <a:avLst/>
          </a:prstGeom>
        </p:spPr>
      </p:pic>
      <p:sp>
        <p:nvSpPr>
          <p:cNvPr id="8" name="TextBox 7">
            <a:extLst>
              <a:ext uri="{FF2B5EF4-FFF2-40B4-BE49-F238E27FC236}">
                <a16:creationId xmlns:a16="http://schemas.microsoft.com/office/drawing/2014/main" id="{BA8B153E-14FD-A54C-0CE1-78E1ADD4532A}"/>
              </a:ext>
            </a:extLst>
          </p:cNvPr>
          <p:cNvSpPr txBox="1"/>
          <p:nvPr/>
        </p:nvSpPr>
        <p:spPr>
          <a:xfrm>
            <a:off x="7409468" y="3429000"/>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Line Plot</a:t>
            </a:r>
          </a:p>
        </p:txBody>
      </p:sp>
      <p:pic>
        <p:nvPicPr>
          <p:cNvPr id="3" name="Picture 2">
            <a:extLst>
              <a:ext uri="{FF2B5EF4-FFF2-40B4-BE49-F238E27FC236}">
                <a16:creationId xmlns:a16="http://schemas.microsoft.com/office/drawing/2014/main" id="{54BDF194-844A-1E51-6640-2E17AD5D9D63}"/>
              </a:ext>
            </a:extLst>
          </p:cNvPr>
          <p:cNvPicPr>
            <a:picLocks noChangeAspect="1"/>
          </p:cNvPicPr>
          <p:nvPr/>
        </p:nvPicPr>
        <p:blipFill>
          <a:blip r:embed="rId4"/>
          <a:srcRect t="932" b="932"/>
          <a:stretch/>
        </p:blipFill>
        <p:spPr>
          <a:xfrm>
            <a:off x="6806151" y="3988996"/>
            <a:ext cx="4012135" cy="2565012"/>
          </a:xfrm>
          <a:prstGeom prst="rect">
            <a:avLst/>
          </a:prstGeom>
        </p:spPr>
      </p:pic>
    </p:spTree>
    <p:extLst>
      <p:ext uri="{BB962C8B-B14F-4D97-AF65-F5344CB8AC3E}">
        <p14:creationId xmlns:p14="http://schemas.microsoft.com/office/powerpoint/2010/main" val="1778311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019AC-D7A8-F334-552D-2F1637807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15743-871E-E7AD-D4FC-205E94D0C134}"/>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Quantitative Data Plots</a:t>
            </a:r>
          </a:p>
        </p:txBody>
      </p:sp>
      <p:sp>
        <p:nvSpPr>
          <p:cNvPr id="15" name="Content Placeholder 2">
            <a:extLst>
              <a:ext uri="{FF2B5EF4-FFF2-40B4-BE49-F238E27FC236}">
                <a16:creationId xmlns:a16="http://schemas.microsoft.com/office/drawing/2014/main" id="{BA16BCB5-D9CE-9407-7A2B-E05139DB8EA6}"/>
              </a:ext>
            </a:extLst>
          </p:cNvPr>
          <p:cNvSpPr>
            <a:spLocks noGrp="1"/>
          </p:cNvSpPr>
          <p:nvPr>
            <p:ph idx="1"/>
          </p:nvPr>
        </p:nvSpPr>
        <p:spPr>
          <a:xfrm>
            <a:off x="600975" y="930275"/>
            <a:ext cx="5982616" cy="5608482"/>
          </a:xfrm>
        </p:spPr>
        <p:txBody>
          <a:bodyPr>
            <a:noAutofit/>
          </a:bodyPr>
          <a:lstStyle/>
          <a:p>
            <a:pPr marL="0" indent="0" algn="just">
              <a:buNone/>
            </a:pPr>
            <a:r>
              <a:rPr lang="en-US" sz="2000" b="1" dirty="0">
                <a:latin typeface="Segoe UI" panose="020B0502040204020203" pitchFamily="34" charset="0"/>
                <a:cs typeface="Segoe UI" panose="020B0502040204020203" pitchFamily="34" charset="0"/>
              </a:rPr>
              <a:t>Heatmap</a:t>
            </a:r>
          </a:p>
          <a:p>
            <a:pPr algn="just"/>
            <a:r>
              <a:rPr lang="en-US" sz="2000" dirty="0">
                <a:latin typeface="Segoe UI" panose="020B0502040204020203" pitchFamily="34" charset="0"/>
                <a:cs typeface="Segoe UI" panose="020B0502040204020203" pitchFamily="34" charset="0"/>
              </a:rPr>
              <a:t>A grid where data values in a matrix are represented by different colors.</a:t>
            </a:r>
          </a:p>
          <a:p>
            <a:pPr algn="just"/>
            <a:r>
              <a:rPr lang="en-US" sz="2000" b="1" dirty="0">
                <a:latin typeface="Segoe UI" panose="020B0502040204020203" pitchFamily="34" charset="0"/>
                <a:cs typeface="Segoe UI" panose="020B0502040204020203" pitchFamily="34" charset="0"/>
              </a:rPr>
              <a:t>Interpretation:</a:t>
            </a:r>
            <a:r>
              <a:rPr lang="en-US" sz="2000" dirty="0">
                <a:latin typeface="Segoe UI" panose="020B0502040204020203" pitchFamily="34" charset="0"/>
                <a:cs typeface="Segoe UI" panose="020B0502040204020203" pitchFamily="34" charset="0"/>
              </a:rPr>
              <a:t> Use the color bar as a key. Bright or dark colors (depending on the palette) indicate high values or strong correlations. It's perfect for finding patterns in large matrices, like feature correlation.</a:t>
            </a:r>
          </a:p>
          <a:p>
            <a:pPr marL="0" indent="0" algn="just">
              <a:buNone/>
            </a:pPr>
            <a:r>
              <a:rPr lang="en-US" sz="2000" b="1" dirty="0">
                <a:latin typeface="Segoe UI" panose="020B0502040204020203" pitchFamily="34" charset="0"/>
                <a:cs typeface="Segoe UI" panose="020B0502040204020203" pitchFamily="34" charset="0"/>
              </a:rPr>
              <a:t>Joint Plot</a:t>
            </a:r>
          </a:p>
          <a:p>
            <a:pPr algn="just"/>
            <a:r>
              <a:rPr lang="en-US" sz="2000" dirty="0">
                <a:latin typeface="Segoe UI" panose="020B0502040204020203" pitchFamily="34" charset="0"/>
                <a:cs typeface="Segoe UI" panose="020B0502040204020203" pitchFamily="34" charset="0"/>
              </a:rPr>
              <a:t>Combines a bivariate plot (like a scatter plot) with univariate plots (histograms) on the margins.</a:t>
            </a:r>
          </a:p>
          <a:p>
            <a:pPr algn="just"/>
            <a:r>
              <a:rPr lang="en-US" sz="2000" b="1" dirty="0">
                <a:latin typeface="Segoe UI" panose="020B0502040204020203" pitchFamily="34" charset="0"/>
                <a:cs typeface="Segoe UI" panose="020B0502040204020203" pitchFamily="34" charset="0"/>
              </a:rPr>
              <a:t>Interpretation: </a:t>
            </a:r>
            <a:r>
              <a:rPr lang="en-US" sz="2000" dirty="0">
                <a:latin typeface="Segoe UI" panose="020B0502040204020203" pitchFamily="34" charset="0"/>
                <a:cs typeface="Segoe UI" panose="020B0502040204020203" pitchFamily="34" charset="0"/>
              </a:rPr>
              <a:t>Analyze the central plot for the relationship between the two variables. Use the plots on the top and right to understand the distribution of each individual variable separately.</a:t>
            </a:r>
          </a:p>
        </p:txBody>
      </p:sp>
      <p:sp>
        <p:nvSpPr>
          <p:cNvPr id="5" name="TextBox 4">
            <a:extLst>
              <a:ext uri="{FF2B5EF4-FFF2-40B4-BE49-F238E27FC236}">
                <a16:creationId xmlns:a16="http://schemas.microsoft.com/office/drawing/2014/main" id="{F6C0F583-108D-5C93-CB55-B514966B41D0}"/>
              </a:ext>
            </a:extLst>
          </p:cNvPr>
          <p:cNvSpPr txBox="1"/>
          <p:nvPr/>
        </p:nvSpPr>
        <p:spPr>
          <a:xfrm>
            <a:off x="7409468" y="303992"/>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Heatmap</a:t>
            </a:r>
          </a:p>
        </p:txBody>
      </p:sp>
      <p:pic>
        <p:nvPicPr>
          <p:cNvPr id="7" name="Picture 6">
            <a:extLst>
              <a:ext uri="{FF2B5EF4-FFF2-40B4-BE49-F238E27FC236}">
                <a16:creationId xmlns:a16="http://schemas.microsoft.com/office/drawing/2014/main" id="{87219DD5-8CAF-246E-35FF-CD1804C170F7}"/>
              </a:ext>
            </a:extLst>
          </p:cNvPr>
          <p:cNvPicPr>
            <a:picLocks noChangeAspect="1"/>
          </p:cNvPicPr>
          <p:nvPr/>
        </p:nvPicPr>
        <p:blipFill>
          <a:blip r:embed="rId3"/>
          <a:srcRect t="-157" b="1082"/>
          <a:stretch>
            <a:fillRect/>
          </a:stretch>
        </p:blipFill>
        <p:spPr>
          <a:xfrm>
            <a:off x="7351142" y="712935"/>
            <a:ext cx="3039116" cy="2554576"/>
          </a:xfrm>
          <a:prstGeom prst="rect">
            <a:avLst/>
          </a:prstGeom>
        </p:spPr>
      </p:pic>
      <p:sp>
        <p:nvSpPr>
          <p:cNvPr id="8" name="TextBox 7">
            <a:extLst>
              <a:ext uri="{FF2B5EF4-FFF2-40B4-BE49-F238E27FC236}">
                <a16:creationId xmlns:a16="http://schemas.microsoft.com/office/drawing/2014/main" id="{754C042C-671C-31D3-F136-4F64F82A75AC}"/>
              </a:ext>
            </a:extLst>
          </p:cNvPr>
          <p:cNvSpPr txBox="1"/>
          <p:nvPr/>
        </p:nvSpPr>
        <p:spPr>
          <a:xfrm>
            <a:off x="7409468" y="3429000"/>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Joint Plot</a:t>
            </a:r>
          </a:p>
        </p:txBody>
      </p:sp>
      <p:pic>
        <p:nvPicPr>
          <p:cNvPr id="3" name="Picture 2">
            <a:extLst>
              <a:ext uri="{FF2B5EF4-FFF2-40B4-BE49-F238E27FC236}">
                <a16:creationId xmlns:a16="http://schemas.microsoft.com/office/drawing/2014/main" id="{BD295BC0-ADF7-F1FB-ED11-598FEE2D6D9E}"/>
              </a:ext>
            </a:extLst>
          </p:cNvPr>
          <p:cNvPicPr>
            <a:picLocks noChangeAspect="1"/>
          </p:cNvPicPr>
          <p:nvPr/>
        </p:nvPicPr>
        <p:blipFill>
          <a:blip r:embed="rId4"/>
          <a:srcRect t="1119" b="778"/>
          <a:stretch>
            <a:fillRect/>
          </a:stretch>
        </p:blipFill>
        <p:spPr>
          <a:xfrm>
            <a:off x="7503891" y="3829110"/>
            <a:ext cx="2733618" cy="2800356"/>
          </a:xfrm>
          <a:prstGeom prst="rect">
            <a:avLst/>
          </a:prstGeom>
        </p:spPr>
      </p:pic>
    </p:spTree>
    <p:extLst>
      <p:ext uri="{BB962C8B-B14F-4D97-AF65-F5344CB8AC3E}">
        <p14:creationId xmlns:p14="http://schemas.microsoft.com/office/powerpoint/2010/main" val="3771273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79CAA-42AC-22DD-8031-86B9C1EC4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9B4AA-3038-8FAB-BD3E-9D0A8AEC3E50}"/>
              </a:ext>
            </a:extLst>
          </p:cNvPr>
          <p:cNvSpPr>
            <a:spLocks noGrp="1"/>
          </p:cNvSpPr>
          <p:nvPr>
            <p:ph type="title"/>
          </p:nvPr>
        </p:nvSpPr>
        <p:spPr>
          <a:xfrm>
            <a:off x="600973" y="303992"/>
            <a:ext cx="9994753" cy="626283"/>
          </a:xfrm>
        </p:spPr>
        <p:txBody>
          <a:bodyPr>
            <a:noAutofit/>
          </a:bodyPr>
          <a:lstStyle/>
          <a:p>
            <a:r>
              <a:rPr lang="en-US" sz="2800" b="1" dirty="0">
                <a:latin typeface="Segoe UI" panose="020B0502040204020203" pitchFamily="34" charset="0"/>
                <a:cs typeface="Segoe UI" panose="020B0502040204020203" pitchFamily="34" charset="0"/>
              </a:rPr>
              <a:t>Qualitative Data Plots</a:t>
            </a:r>
          </a:p>
        </p:txBody>
      </p:sp>
      <p:sp>
        <p:nvSpPr>
          <p:cNvPr id="15" name="Content Placeholder 2">
            <a:extLst>
              <a:ext uri="{FF2B5EF4-FFF2-40B4-BE49-F238E27FC236}">
                <a16:creationId xmlns:a16="http://schemas.microsoft.com/office/drawing/2014/main" id="{03ACFDDE-B560-A9F5-7950-96CDF4FEF17D}"/>
              </a:ext>
            </a:extLst>
          </p:cNvPr>
          <p:cNvSpPr>
            <a:spLocks noGrp="1"/>
          </p:cNvSpPr>
          <p:nvPr>
            <p:ph idx="1"/>
          </p:nvPr>
        </p:nvSpPr>
        <p:spPr>
          <a:xfrm>
            <a:off x="600974" y="930275"/>
            <a:ext cx="6195751" cy="5608482"/>
          </a:xfrm>
        </p:spPr>
        <p:txBody>
          <a:bodyPr>
            <a:noAutofit/>
          </a:bodyPr>
          <a:lstStyle/>
          <a:p>
            <a:pPr marL="0" indent="0">
              <a:buNone/>
            </a:pPr>
            <a:r>
              <a:rPr lang="en-US" sz="2000" b="1" dirty="0">
                <a:latin typeface="Segoe UI" panose="020B0502040204020203" pitchFamily="34" charset="0"/>
                <a:cs typeface="Segoe UI" panose="020B0502040204020203" pitchFamily="34" charset="0"/>
              </a:rPr>
              <a:t>Bar Plot</a:t>
            </a:r>
            <a:endParaRPr lang="en-US" sz="2000" dirty="0">
              <a:latin typeface="Segoe UI" panose="020B0502040204020203" pitchFamily="34" charset="0"/>
              <a:cs typeface="Segoe UI" panose="020B0502040204020203" pitchFamily="34" charset="0"/>
            </a:endParaRPr>
          </a:p>
          <a:p>
            <a:r>
              <a:rPr lang="en-US" sz="2000" dirty="0">
                <a:latin typeface="Segoe UI" panose="020B0502040204020203" pitchFamily="34" charset="0"/>
                <a:cs typeface="Segoe UI" panose="020B0502040204020203" pitchFamily="34" charset="0"/>
              </a:rPr>
              <a:t>A plot that shows an aggregate statistic (like the mean) for a numerical variable across different categories.</a:t>
            </a:r>
          </a:p>
          <a:p>
            <a:r>
              <a:rPr lang="en-US" sz="2000" b="1" dirty="0">
                <a:latin typeface="Segoe UI" panose="020B0502040204020203" pitchFamily="34" charset="0"/>
                <a:cs typeface="Segoe UI" panose="020B0502040204020203" pitchFamily="34" charset="0"/>
              </a:rPr>
              <a:t>Interpretation:</a:t>
            </a:r>
            <a:r>
              <a:rPr lang="en-US" sz="2000" dirty="0">
                <a:latin typeface="Segoe UI" panose="020B0502040204020203" pitchFamily="34" charset="0"/>
                <a:cs typeface="Segoe UI" panose="020B0502040204020203" pitchFamily="34" charset="0"/>
              </a:rPr>
              <a:t> Compare the bar heights to see how the numerical value differs between categories.</a:t>
            </a:r>
          </a:p>
          <a:p>
            <a:pPr marL="0" indent="0">
              <a:buNone/>
            </a:pPr>
            <a:r>
              <a:rPr lang="en-US" sz="2000" b="1" dirty="0">
                <a:latin typeface="Segoe UI" panose="020B0502040204020203" pitchFamily="34" charset="0"/>
                <a:cs typeface="Segoe UI" panose="020B0502040204020203" pitchFamily="34" charset="0"/>
              </a:rPr>
              <a:t>Count Plot</a:t>
            </a:r>
            <a:endParaRPr lang="en-US" sz="2000" dirty="0">
              <a:latin typeface="Segoe UI" panose="020B0502040204020203" pitchFamily="34" charset="0"/>
              <a:cs typeface="Segoe UI" panose="020B0502040204020203" pitchFamily="34" charset="0"/>
            </a:endParaRPr>
          </a:p>
          <a:p>
            <a:r>
              <a:rPr lang="en-US" sz="2000" dirty="0">
                <a:latin typeface="Segoe UI" panose="020B0502040204020203" pitchFamily="34" charset="0"/>
                <a:cs typeface="Segoe UI" panose="020B0502040204020203" pitchFamily="34" charset="0"/>
              </a:rPr>
              <a:t>A bar chart showing the number of observations in each category.</a:t>
            </a:r>
          </a:p>
          <a:p>
            <a:r>
              <a:rPr lang="en-US" sz="2000" b="1" dirty="0">
                <a:latin typeface="Segoe UI" panose="020B0502040204020203" pitchFamily="34" charset="0"/>
                <a:cs typeface="Segoe UI" panose="020B0502040204020203" pitchFamily="34" charset="0"/>
              </a:rPr>
              <a:t>Interpretation:</a:t>
            </a:r>
            <a:r>
              <a:rPr lang="en-US" sz="2000" dirty="0">
                <a:latin typeface="Segoe UI" panose="020B0502040204020203" pitchFamily="34" charset="0"/>
                <a:cs typeface="Segoe UI" panose="020B0502040204020203" pitchFamily="34" charset="0"/>
              </a:rPr>
              <a:t> Compare the heights of the bars. A taller bar means that category appears more frequently in the data. It's used to understand the balance of categorical data.</a:t>
            </a:r>
          </a:p>
        </p:txBody>
      </p:sp>
      <p:sp>
        <p:nvSpPr>
          <p:cNvPr id="5" name="TextBox 4">
            <a:extLst>
              <a:ext uri="{FF2B5EF4-FFF2-40B4-BE49-F238E27FC236}">
                <a16:creationId xmlns:a16="http://schemas.microsoft.com/office/drawing/2014/main" id="{C14FEEC8-D7FD-94F4-6C69-E072D14810D9}"/>
              </a:ext>
            </a:extLst>
          </p:cNvPr>
          <p:cNvSpPr txBox="1"/>
          <p:nvPr/>
        </p:nvSpPr>
        <p:spPr>
          <a:xfrm>
            <a:off x="7409468" y="303992"/>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Bar plot</a:t>
            </a:r>
          </a:p>
        </p:txBody>
      </p:sp>
      <p:pic>
        <p:nvPicPr>
          <p:cNvPr id="7" name="Picture 6">
            <a:extLst>
              <a:ext uri="{FF2B5EF4-FFF2-40B4-BE49-F238E27FC236}">
                <a16:creationId xmlns:a16="http://schemas.microsoft.com/office/drawing/2014/main" id="{D117279A-FD3F-97D8-95C3-7151B7192056}"/>
              </a:ext>
            </a:extLst>
          </p:cNvPr>
          <p:cNvPicPr>
            <a:picLocks noChangeAspect="1"/>
          </p:cNvPicPr>
          <p:nvPr/>
        </p:nvPicPr>
        <p:blipFill>
          <a:blip r:embed="rId3"/>
          <a:srcRect l="-1" r="66040"/>
          <a:stretch>
            <a:fillRect/>
          </a:stretch>
        </p:blipFill>
        <p:spPr>
          <a:xfrm>
            <a:off x="7503891" y="704102"/>
            <a:ext cx="2639194" cy="2848594"/>
          </a:xfrm>
          <a:prstGeom prst="rect">
            <a:avLst/>
          </a:prstGeom>
        </p:spPr>
      </p:pic>
      <p:sp>
        <p:nvSpPr>
          <p:cNvPr id="8" name="TextBox 7">
            <a:extLst>
              <a:ext uri="{FF2B5EF4-FFF2-40B4-BE49-F238E27FC236}">
                <a16:creationId xmlns:a16="http://schemas.microsoft.com/office/drawing/2014/main" id="{19BBCF90-FBC7-60AA-EF99-763D71B1B57D}"/>
              </a:ext>
            </a:extLst>
          </p:cNvPr>
          <p:cNvSpPr txBox="1"/>
          <p:nvPr/>
        </p:nvSpPr>
        <p:spPr>
          <a:xfrm>
            <a:off x="7409468" y="3429000"/>
            <a:ext cx="2828041" cy="400110"/>
          </a:xfrm>
          <a:prstGeom prst="rect">
            <a:avLst/>
          </a:prstGeom>
          <a:noFill/>
        </p:spPr>
        <p:txBody>
          <a:bodyPr wrap="square" rtlCol="0">
            <a:spAutoFit/>
          </a:bodyPr>
          <a:lstStyle/>
          <a:p>
            <a:pPr algn="ctr"/>
            <a:r>
              <a:rPr lang="en-US" sz="2000" b="1" dirty="0">
                <a:latin typeface="Segoe UI" panose="020B0502040204020203" pitchFamily="34" charset="0"/>
                <a:cs typeface="Segoe UI" panose="020B0502040204020203" pitchFamily="34" charset="0"/>
              </a:rPr>
              <a:t>Count Plot</a:t>
            </a:r>
          </a:p>
        </p:txBody>
      </p:sp>
      <p:pic>
        <p:nvPicPr>
          <p:cNvPr id="4" name="Picture 3">
            <a:extLst>
              <a:ext uri="{FF2B5EF4-FFF2-40B4-BE49-F238E27FC236}">
                <a16:creationId xmlns:a16="http://schemas.microsoft.com/office/drawing/2014/main" id="{AFBBB2FF-2793-78A8-6522-1C8029791CF0}"/>
              </a:ext>
            </a:extLst>
          </p:cNvPr>
          <p:cNvPicPr>
            <a:picLocks noChangeAspect="1"/>
          </p:cNvPicPr>
          <p:nvPr/>
        </p:nvPicPr>
        <p:blipFill>
          <a:blip r:embed="rId3"/>
          <a:srcRect l="33019" r="33019"/>
          <a:stretch>
            <a:fillRect/>
          </a:stretch>
        </p:blipFill>
        <p:spPr>
          <a:xfrm>
            <a:off x="7503891" y="3829110"/>
            <a:ext cx="2639194" cy="2848594"/>
          </a:xfrm>
          <a:prstGeom prst="rect">
            <a:avLst/>
          </a:prstGeom>
        </p:spPr>
      </p:pic>
    </p:spTree>
    <p:extLst>
      <p:ext uri="{BB962C8B-B14F-4D97-AF65-F5344CB8AC3E}">
        <p14:creationId xmlns:p14="http://schemas.microsoft.com/office/powerpoint/2010/main" val="3826753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CB14-78A5-ABB1-1CBD-9F9057E17C8F}"/>
              </a:ext>
            </a:extLst>
          </p:cNvPr>
          <p:cNvSpPr>
            <a:spLocks noGrp="1"/>
          </p:cNvSpPr>
          <p:nvPr>
            <p:ph type="ctrTitle"/>
          </p:nvPr>
        </p:nvSpPr>
        <p:spPr>
          <a:xfrm>
            <a:off x="804672" y="4267832"/>
            <a:ext cx="4805996" cy="1297115"/>
          </a:xfrm>
        </p:spPr>
        <p:txBody>
          <a:bodyPr anchor="t">
            <a:normAutofit/>
          </a:bodyPr>
          <a:lstStyle/>
          <a:p>
            <a:pPr algn="l"/>
            <a:r>
              <a:rPr lang="en-US" sz="4000" dirty="0">
                <a:solidFill>
                  <a:schemeClr val="tx2"/>
                </a:solidFill>
                <a:latin typeface="Segoe UI" panose="020B0502040204020203" pitchFamily="34" charset="0"/>
                <a:cs typeface="Segoe UI" panose="020B0502040204020203" pitchFamily="34" charset="0"/>
              </a:rPr>
              <a:t>Thank You</a:t>
            </a:r>
          </a:p>
        </p:txBody>
      </p:sp>
      <p:sp>
        <p:nvSpPr>
          <p:cNvPr id="3" name="Subtitle 2">
            <a:extLst>
              <a:ext uri="{FF2B5EF4-FFF2-40B4-BE49-F238E27FC236}">
                <a16:creationId xmlns:a16="http://schemas.microsoft.com/office/drawing/2014/main" id="{3FB7B650-B587-E69D-11FA-7E0F7B6ED41F}"/>
              </a:ext>
            </a:extLst>
          </p:cNvPr>
          <p:cNvSpPr>
            <a:spLocks noGrp="1"/>
          </p:cNvSpPr>
          <p:nvPr>
            <p:ph type="subTitle" idx="1"/>
          </p:nvPr>
        </p:nvSpPr>
        <p:spPr>
          <a:xfrm>
            <a:off x="804672" y="3428999"/>
            <a:ext cx="4805691" cy="838831"/>
          </a:xfrm>
        </p:spPr>
        <p:txBody>
          <a:bodyPr anchor="b">
            <a:normAutofit/>
          </a:bodyPr>
          <a:lstStyle/>
          <a:p>
            <a:pPr algn="l"/>
            <a:r>
              <a:rPr lang="en-US" sz="2000" dirty="0">
                <a:solidFill>
                  <a:schemeClr val="tx2"/>
                </a:solidFill>
              </a:rPr>
              <a:t>  </a:t>
            </a:r>
          </a:p>
        </p:txBody>
      </p:sp>
      <p:pic>
        <p:nvPicPr>
          <p:cNvPr id="7" name="Graphic 6" descr="Smiling Face with No Fill">
            <a:extLst>
              <a:ext uri="{FF2B5EF4-FFF2-40B4-BE49-F238E27FC236}">
                <a16:creationId xmlns:a16="http://schemas.microsoft.com/office/drawing/2014/main" id="{8B2A9478-5296-32F6-7499-25C86EB35A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9652" y="1859078"/>
            <a:ext cx="3821102" cy="3821102"/>
          </a:xfrm>
          <a:prstGeom prst="rect">
            <a:avLst/>
          </a:prstGeom>
          <a:ln>
            <a:noFill/>
          </a:ln>
        </p:spPr>
      </p:pic>
    </p:spTree>
    <p:extLst>
      <p:ext uri="{BB962C8B-B14F-4D97-AF65-F5344CB8AC3E}">
        <p14:creationId xmlns:p14="http://schemas.microsoft.com/office/powerpoint/2010/main" val="259167291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1942</TotalTime>
  <Words>1249</Words>
  <Application>Microsoft Office PowerPoint</Application>
  <PresentationFormat>Widescreen</PresentationFormat>
  <Paragraphs>158</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Century Schoolbook</vt:lpstr>
      <vt:lpstr>Segoe UI</vt:lpstr>
      <vt:lpstr>Tahoma</vt:lpstr>
      <vt:lpstr>Wingdings</vt:lpstr>
      <vt:lpstr>Wingdings 2</vt:lpstr>
      <vt:lpstr>View</vt:lpstr>
      <vt:lpstr>Spring of Code Artificial Intelligence (Machine Learning &amp; Deep Learning)</vt:lpstr>
      <vt:lpstr>Day 05 – Exploratory Data Analysis (Data Visualization)</vt:lpstr>
      <vt:lpstr>Data Visualization</vt:lpstr>
      <vt:lpstr>Sources of Data</vt:lpstr>
      <vt:lpstr>Data Visualization Libraries</vt:lpstr>
      <vt:lpstr>Anatomy of Matplotlib Figure</vt:lpstr>
      <vt:lpstr>Quantitative Data Plots</vt:lpstr>
      <vt:lpstr>Quantitative Data Plots</vt:lpstr>
      <vt:lpstr>Quantitative Data Plots</vt:lpstr>
      <vt:lpstr>Quantitative Data Plots</vt:lpstr>
      <vt:lpstr>Qualitative Data Plots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Asad Afridi</dc:creator>
  <cp:keywords/>
  <dc:description>generated using python-pptx</dc:description>
  <cp:lastModifiedBy>Asad Afridi</cp:lastModifiedBy>
  <cp:revision>56</cp:revision>
  <dcterms:created xsi:type="dcterms:W3CDTF">2013-01-27T09:14:16Z</dcterms:created>
  <dcterms:modified xsi:type="dcterms:W3CDTF">2026-03-17T00:27:33Z</dcterms:modified>
  <cp:category/>
</cp:coreProperties>
</file>